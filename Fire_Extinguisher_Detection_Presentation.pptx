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2" r:id="rId23"/>
    <p:sldId id="273" r:id="rId24"/>
    <p:sldId id="274" r:id="rId2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(n=140)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1F6FB4"/>
              </a:solidFill>
              <a:ln>
                <a:noFill/>
              </a:ln>
            </c:spPr>
          </c:marker>
          <c:xVal>
            <c:numRef>
              <c:f>Sheet1!$A$2:$A$141</c:f>
              <c:numCache>
                <c:formatCode>General</c:formatCode>
                <c:ptCount val="140"/>
                <c:pt idx="0">
                  <c:v>1.013770052024841</c:v>
                </c:pt>
                <c:pt idx="1">
                  <c:v>0.7445567462078129</c:v>
                </c:pt>
                <c:pt idx="2">
                  <c:v>0.7864596971167683</c:v>
                </c:pt>
                <c:pt idx="3">
                  <c:v>0.8428932083142544</c:v>
                </c:pt>
                <c:pt idx="4">
                  <c:v>0.8428932083142544</c:v>
                </c:pt>
                <c:pt idx="5">
                  <c:v>0.6002600556651692</c:v>
                </c:pt>
                <c:pt idx="6">
                  <c:v>0.4984738772680521</c:v>
                </c:pt>
                <c:pt idx="7">
                  <c:v>0.5966502611074374</c:v>
                </c:pt>
                <c:pt idx="8">
                  <c:v>0.8091474698298392</c:v>
                </c:pt>
                <c:pt idx="9">
                  <c:v>1.0114979794757868</c:v>
                </c:pt>
                <c:pt idx="10">
                  <c:v>1.03024271936853</c:v>
                </c:pt>
                <c:pt idx="11">
                  <c:v>1.0040105358166322</c:v>
                </c:pt>
                <c:pt idx="12">
                  <c:v>0.715619647364204</c:v>
                </c:pt>
                <c:pt idx="13">
                  <c:v>0.6977830813142547</c:v>
                </c:pt>
                <c:pt idx="14">
                  <c:v>1.271827272097161</c:v>
                </c:pt>
                <c:pt idx="15">
                  <c:v>0.9759162839536746</c:v>
                </c:pt>
                <c:pt idx="16">
                  <c:v>1.002573143903674</c:v>
                </c:pt>
                <c:pt idx="17">
                  <c:v>1.2968573120949118</c:v>
                </c:pt>
                <c:pt idx="18">
                  <c:v>1.3605659248582027</c:v>
                </c:pt>
                <c:pt idx="19">
                  <c:v>1.4775279305495614</c:v>
                </c:pt>
                <c:pt idx="20">
                  <c:v>1.486545886204826</c:v>
                </c:pt>
                <c:pt idx="21">
                  <c:v>1.3327003057192781</c:v>
                </c:pt>
                <c:pt idx="22">
                  <c:v>0.8613014862438662</c:v>
                </c:pt>
                <c:pt idx="23">
                  <c:v>0.9777424152861035</c:v>
                </c:pt>
                <c:pt idx="24">
                  <c:v>1.1967502385055504</c:v>
                </c:pt>
                <c:pt idx="25">
                  <c:v>1.359233112781435</c:v>
                </c:pt>
                <c:pt idx="26">
                  <c:v>1.3742014226290935</c:v>
                </c:pt>
                <c:pt idx="27">
                  <c:v>0.9495665175019383</c:v>
                </c:pt>
                <c:pt idx="28">
                  <c:v>0.9804244542984535</c:v>
                </c:pt>
                <c:pt idx="29">
                  <c:v>0.975347845621572</c:v>
                </c:pt>
                <c:pt idx="30">
                  <c:v>1.2485612746791372</c:v>
                </c:pt>
                <c:pt idx="31">
                  <c:v>0.7928069999104748</c:v>
                </c:pt>
                <c:pt idx="32">
                  <c:v>0.9636985212331874</c:v>
                </c:pt>
                <c:pt idx="33">
                  <c:v>0.9066475923289018</c:v>
                </c:pt>
                <c:pt idx="34">
                  <c:v>0.7584209401798072</c:v>
                </c:pt>
                <c:pt idx="35">
                  <c:v>0.9706959865556095</c:v>
                </c:pt>
                <c:pt idx="36">
                  <c:v>0.8585737636018822</c:v>
                </c:pt>
                <c:pt idx="37">
                  <c:v>0.9365680168038556</c:v>
                </c:pt>
                <c:pt idx="38">
                  <c:v>0.818265032691174</c:v>
                </c:pt>
                <c:pt idx="39">
                  <c:v>0.970336599634382</c:v>
                </c:pt>
                <c:pt idx="40">
                  <c:v>0.9093034616534068</c:v>
                </c:pt>
                <c:pt idx="41">
                  <c:v>1.18152707406241</c:v>
                </c:pt>
                <c:pt idx="42">
                  <c:v>0.8539610539216199</c:v>
                </c:pt>
                <c:pt idx="43">
                  <c:v>0.8056650694683087</c:v>
                </c:pt>
                <c:pt idx="44">
                  <c:v>1.230731235473954</c:v>
                </c:pt>
                <c:pt idx="45">
                  <c:v>1.2825031047374962</c:v>
                </c:pt>
                <c:pt idx="46">
                  <c:v>1.2791775383027029</c:v>
                </c:pt>
                <c:pt idx="47">
                  <c:v>0.7560623452686052</c:v>
                </c:pt>
                <c:pt idx="48">
                  <c:v>0.7408751349390107</c:v>
                </c:pt>
                <c:pt idx="49">
                  <c:v>0.7182853793898156</c:v>
                </c:pt>
                <c:pt idx="50">
                  <c:v>0.6882375897311864</c:v>
                </c:pt>
                <c:pt idx="51">
                  <c:v>0.7102360515034162</c:v>
                </c:pt>
                <c:pt idx="52">
                  <c:v>0.7525864873290359</c:v>
                </c:pt>
                <c:pt idx="53">
                  <c:v>0.7493425800560659</c:v>
                </c:pt>
                <c:pt idx="54">
                  <c:v>0.625917309478317</c:v>
                </c:pt>
                <c:pt idx="55">
                  <c:v>0.5670140818903368</c:v>
                </c:pt>
                <c:pt idx="56">
                  <c:v>0.5327880751137833</c:v>
                </c:pt>
                <c:pt idx="57">
                  <c:v>0.7534227825414087</c:v>
                </c:pt>
                <c:pt idx="58">
                  <c:v>0.5804111484920178</c:v>
                </c:pt>
                <c:pt idx="59">
                  <c:v>0.6455669290265106</c:v>
                </c:pt>
                <c:pt idx="60">
                  <c:v>0.583498262338958</c:v>
                </c:pt>
                <c:pt idx="61">
                  <c:v>0.5759160423513778</c:v>
                </c:pt>
                <c:pt idx="62">
                  <c:v>0.8479044796143864</c:v>
                </c:pt>
                <c:pt idx="63">
                  <c:v>0.856940354496087</c:v>
                </c:pt>
                <c:pt idx="64">
                  <c:v>0.7676496143952574</c:v>
                </c:pt>
                <c:pt idx="65">
                  <c:v>0.8325048679981006</c:v>
                </c:pt>
                <c:pt idx="66">
                  <c:v>1.496421269484828</c:v>
                </c:pt>
                <c:pt idx="67">
                  <c:v>0.8751689673934662</c:v>
                </c:pt>
                <c:pt idx="68">
                  <c:v>0.8995129421536995</c:v>
                </c:pt>
                <c:pt idx="69">
                  <c:v>0.7504173582318223</c:v>
                </c:pt>
                <c:pt idx="70">
                  <c:v>0.8130414695341467</c:v>
                </c:pt>
                <c:pt idx="71">
                  <c:v>0.8662310983821749</c:v>
                </c:pt>
                <c:pt idx="72">
                  <c:v>0.9193226843639555</c:v>
                </c:pt>
                <c:pt idx="73">
                  <c:v>0.9200806114864094</c:v>
                </c:pt>
                <c:pt idx="74">
                  <c:v>1.4134223707426778</c:v>
                </c:pt>
                <c:pt idx="75">
                  <c:v>0.9240464761910921</c:v>
                </c:pt>
                <c:pt idx="76">
                  <c:v>0.9264834189418594</c:v>
                </c:pt>
                <c:pt idx="77">
                  <c:v>0.9228377501037067</c:v>
                </c:pt>
                <c:pt idx="78">
                  <c:v>0.9269472914572469</c:v>
                </c:pt>
                <c:pt idx="79">
                  <c:v>0.9629602684976326</c:v>
                </c:pt>
                <c:pt idx="80">
                  <c:v>0.9076080362288672</c:v>
                </c:pt>
                <c:pt idx="81">
                  <c:v>0.9372441901330257</c:v>
                </c:pt>
                <c:pt idx="82">
                  <c:v>0.9549436040423046</c:v>
                </c:pt>
                <c:pt idx="83">
                  <c:v>0.9485929521516419</c:v>
                </c:pt>
                <c:pt idx="84">
                  <c:v>0.9271890355064343</c:v>
                </c:pt>
                <c:pt idx="85">
                  <c:v>1.3178104289963282</c:v>
                </c:pt>
                <c:pt idx="86">
                  <c:v>0.6673628987500261</c:v>
                </c:pt>
                <c:pt idx="87">
                  <c:v>0.9125017016527978</c:v>
                </c:pt>
                <c:pt idx="88">
                  <c:v>0.4072263443219105</c:v>
                </c:pt>
                <c:pt idx="89">
                  <c:v>0.8832313427385198</c:v>
                </c:pt>
                <c:pt idx="90">
                  <c:v>0.8889154994113565</c:v>
                </c:pt>
                <c:pt idx="91">
                  <c:v>0.7001351443181022</c:v>
                </c:pt>
                <c:pt idx="92">
                  <c:v>0.885988497711872</c:v>
                </c:pt>
                <c:pt idx="93">
                  <c:v>0.715652308848126</c:v>
                </c:pt>
                <c:pt idx="94">
                  <c:v>0.8935935491943774</c:v>
                </c:pt>
                <c:pt idx="95">
                  <c:v>0.8486917132823578</c:v>
                </c:pt>
                <c:pt idx="96">
                  <c:v>0.8456471185578578</c:v>
                </c:pt>
                <c:pt idx="97">
                  <c:v>0.8505799645218788</c:v>
                </c:pt>
                <c:pt idx="98">
                  <c:v>0.8372188438557162</c:v>
                </c:pt>
                <c:pt idx="99">
                  <c:v>0.8719218239582046</c:v>
                </c:pt>
                <c:pt idx="100">
                  <c:v>0.863173343264356</c:v>
                </c:pt>
                <c:pt idx="101">
                  <c:v>0.8399073668755457</c:v>
                </c:pt>
                <c:pt idx="102">
                  <c:v>0.701997200946266</c:v>
                </c:pt>
                <c:pt idx="103">
                  <c:v>0.7007884916043654</c:v>
                </c:pt>
                <c:pt idx="104">
                  <c:v>0.8364086863979384</c:v>
                </c:pt>
                <c:pt idx="105">
                  <c:v>0.6949801916959543</c:v>
                </c:pt>
                <c:pt idx="106">
                  <c:v>0.887889748899602</c:v>
                </c:pt>
                <c:pt idx="107">
                  <c:v>0.7349981625763694</c:v>
                </c:pt>
                <c:pt idx="108">
                  <c:v>0.8664140330676686</c:v>
                </c:pt>
                <c:pt idx="109">
                  <c:v>0.6145064676638863</c:v>
                </c:pt>
                <c:pt idx="110">
                  <c:v>0.3032987983100538</c:v>
                </c:pt>
                <c:pt idx="111">
                  <c:v>0.4398777451254844</c:v>
                </c:pt>
                <c:pt idx="112">
                  <c:v>0.8759366594701271</c:v>
                </c:pt>
                <c:pt idx="113">
                  <c:v>0.432439312774277</c:v>
                </c:pt>
                <c:pt idx="114">
                  <c:v>0.8990098653429989</c:v>
                </c:pt>
                <c:pt idx="115">
                  <c:v>0.512321754517561</c:v>
                </c:pt>
                <c:pt idx="116">
                  <c:v>0.5086956194821213</c:v>
                </c:pt>
                <c:pt idx="117">
                  <c:v>0.8966839323051488</c:v>
                </c:pt>
                <c:pt idx="118">
                  <c:v>0.8653098202239646</c:v>
                </c:pt>
                <c:pt idx="119">
                  <c:v>0.5372929906036364</c:v>
                </c:pt>
                <c:pt idx="120">
                  <c:v>0.49340713129227715</c:v>
                </c:pt>
                <c:pt idx="121">
                  <c:v>0.8891834333987426</c:v>
                </c:pt>
                <c:pt idx="122">
                  <c:v>0.4034728088593914</c:v>
                </c:pt>
                <c:pt idx="123">
                  <c:v>0.518162735381388</c:v>
                </c:pt>
                <c:pt idx="124">
                  <c:v>0.6513099340060289</c:v>
                </c:pt>
                <c:pt idx="125">
                  <c:v>0.9799475366609911</c:v>
                </c:pt>
                <c:pt idx="126">
                  <c:v>0.4599782366567117</c:v>
                </c:pt>
                <c:pt idx="127">
                  <c:v>0.6547400744355647</c:v>
                </c:pt>
                <c:pt idx="128">
                  <c:v>0.48143765815837775</c:v>
                </c:pt>
                <c:pt idx="129">
                  <c:v>0.5140073955163997</c:v>
                </c:pt>
                <c:pt idx="130">
                  <c:v>0.8835971918591534</c:v>
                </c:pt>
                <c:pt idx="131">
                  <c:v>0.6768626449788245</c:v>
                </c:pt>
                <c:pt idx="132">
                  <c:v>0.9669652927131925</c:v>
                </c:pt>
                <c:pt idx="133">
                  <c:v>0.6340025852473843</c:v>
                </c:pt>
                <c:pt idx="134">
                  <c:v>0.9843184251849499</c:v>
                </c:pt>
                <c:pt idx="135">
                  <c:v>0.9894799116616018</c:v>
                </c:pt>
                <c:pt idx="136">
                  <c:v>0.5644986725238914</c:v>
                </c:pt>
                <c:pt idx="137">
                  <c:v>0.6391510250442417</c:v>
                </c:pt>
                <c:pt idx="138">
                  <c:v>0.7060545633692262</c:v>
                </c:pt>
                <c:pt idx="139">
                  <c:v>0.4860960791177954</c:v>
                </c:pt>
              </c:numCache>
            </c:numRef>
          </c:xVal>
          <c:yVal>
            <c:numRef>
              <c:f>Sheet1!$B$2:$B$141</c:f>
              <c:numCache>
                <c:formatCode>General</c:formatCode>
                <c:ptCount val="140"/>
                <c:pt idx="0">
                  <c:v>0.9116177033184224</c:v>
                </c:pt>
                <c:pt idx="1">
                  <c:v>0.3871085878526865</c:v>
                </c:pt>
                <c:pt idx="2">
                  <c:v>0.5049907043201708</c:v>
                </c:pt>
                <c:pt idx="3">
                  <c:v>0.6018797063579511</c:v>
                </c:pt>
                <c:pt idx="4">
                  <c:v>0.5278195483330463</c:v>
                </c:pt>
                <c:pt idx="5">
                  <c:v>0.48141194646245217</c:v>
                </c:pt>
                <c:pt idx="6">
                  <c:v>0.2846470193848462</c:v>
                </c:pt>
                <c:pt idx="7">
                  <c:v>0.1412325680470309</c:v>
                </c:pt>
                <c:pt idx="8">
                  <c:v>0.5829220650901665</c:v>
                </c:pt>
                <c:pt idx="9">
                  <c:v>0.8220274410327449</c:v>
                </c:pt>
                <c:pt idx="10">
                  <c:v>1.0158608764432855</c:v>
                </c:pt>
                <c:pt idx="11">
                  <c:v>1.1760331011675023</c:v>
                </c:pt>
                <c:pt idx="12">
                  <c:v>0.6750205898048534</c:v>
                </c:pt>
                <c:pt idx="13">
                  <c:v>0.5300000099341071</c:v>
                </c:pt>
                <c:pt idx="14">
                  <c:v>0.45294898806406175</c:v>
                </c:pt>
                <c:pt idx="15">
                  <c:v>0.8389904830735785</c:v>
                </c:pt>
                <c:pt idx="16">
                  <c:v>0.8356989412266939</c:v>
                </c:pt>
                <c:pt idx="17">
                  <c:v>0.380267241158216</c:v>
                </c:pt>
                <c:pt idx="18">
                  <c:v>0.23013984675855603</c:v>
                </c:pt>
                <c:pt idx="19">
                  <c:v>-0.058474676480615224</c:v>
                </c:pt>
                <c:pt idx="20">
                  <c:v>-0.07490603521299806</c:v>
                </c:pt>
                <c:pt idx="21">
                  <c:v>0.27691717576850977</c:v>
                </c:pt>
                <c:pt idx="22">
                  <c:v>0.43215569452928876</c:v>
                </c:pt>
                <c:pt idx="23">
                  <c:v>0.7331898717894211</c:v>
                </c:pt>
                <c:pt idx="24">
                  <c:v>-0.33232786631706507</c:v>
                </c:pt>
                <c:pt idx="25">
                  <c:v>0.36108850180465035</c:v>
                </c:pt>
                <c:pt idx="26">
                  <c:v>0.36585369163057757</c:v>
                </c:pt>
                <c:pt idx="27">
                  <c:v>1.0630740459717118</c:v>
                </c:pt>
                <c:pt idx="28">
                  <c:v>1.1432926097950196</c:v>
                </c:pt>
                <c:pt idx="29">
                  <c:v>1.7309941357396414</c:v>
                </c:pt>
                <c:pt idx="30">
                  <c:v>-0.18367348527570676</c:v>
                </c:pt>
                <c:pt idx="31">
                  <c:v>1.027343785773458</c:v>
                </c:pt>
                <c:pt idx="32">
                  <c:v>2.0928814921479066</c:v>
                </c:pt>
                <c:pt idx="33">
                  <c:v>0.3996670943624472</c:v>
                </c:pt>
                <c:pt idx="34">
                  <c:v>1.1338419375791404</c:v>
                </c:pt>
                <c:pt idx="35">
                  <c:v>2.0978925403271393</c:v>
                </c:pt>
                <c:pt idx="36">
                  <c:v>0.3791948245410116</c:v>
                </c:pt>
                <c:pt idx="37">
                  <c:v>2.27797839652415</c:v>
                </c:pt>
                <c:pt idx="38">
                  <c:v>0.33138640722505713</c:v>
                </c:pt>
                <c:pt idx="39">
                  <c:v>2.3105188970770363</c:v>
                </c:pt>
                <c:pt idx="40">
                  <c:v>2.621557878734986</c:v>
                </c:pt>
                <c:pt idx="41">
                  <c:v>1.7305353860147494</c:v>
                </c:pt>
                <c:pt idx="42">
                  <c:v>2.910025694861416</c:v>
                </c:pt>
                <c:pt idx="43">
                  <c:v>3.3133512879907854</c:v>
                </c:pt>
                <c:pt idx="44">
                  <c:v>1.832633452542619</c:v>
                </c:pt>
                <c:pt idx="45">
                  <c:v>1.6920706804500298</c:v>
                </c:pt>
                <c:pt idx="46">
                  <c:v>1.670861304400236</c:v>
                </c:pt>
                <c:pt idx="47">
                  <c:v>3.673003947051134</c:v>
                </c:pt>
                <c:pt idx="48">
                  <c:v>4.040314656235952</c:v>
                </c:pt>
                <c:pt idx="49">
                  <c:v>4.09362547364614</c:v>
                </c:pt>
                <c:pt idx="50">
                  <c:v>4.424116446401085</c:v>
                </c:pt>
                <c:pt idx="51">
                  <c:v>4.4376299707993025</c:v>
                </c:pt>
                <c:pt idx="52">
                  <c:v>4.602215539992855</c:v>
                </c:pt>
                <c:pt idx="53">
                  <c:v>4.635448159687141</c:v>
                </c:pt>
                <c:pt idx="54">
                  <c:v>2.445081125504149</c:v>
                </c:pt>
                <c:pt idx="55">
                  <c:v>1.890303754835653</c:v>
                </c:pt>
                <c:pt idx="56">
                  <c:v>1.557255762174528</c:v>
                </c:pt>
                <c:pt idx="57">
                  <c:v>4.433071143303876</c:v>
                </c:pt>
                <c:pt idx="58">
                  <c:v>1.7215188771437502</c:v>
                </c:pt>
                <c:pt idx="59">
                  <c:v>1.7113595686266456</c:v>
                </c:pt>
                <c:pt idx="60">
                  <c:v>1.6013009100343303</c:v>
                </c:pt>
                <c:pt idx="61">
                  <c:v>1.5771689068214494</c:v>
                </c:pt>
                <c:pt idx="62">
                  <c:v>4.817679394873496</c:v>
                </c:pt>
                <c:pt idx="63">
                  <c:v>4.854528682157184</c:v>
                </c:pt>
                <c:pt idx="64">
                  <c:v>4.3345760132483395</c:v>
                </c:pt>
                <c:pt idx="65">
                  <c:v>5.063177047952043</c:v>
                </c:pt>
                <c:pt idx="66">
                  <c:v>2.398386376356284</c:v>
                </c:pt>
                <c:pt idx="67">
                  <c:v>5.005957217564042</c:v>
                </c:pt>
                <c:pt idx="68">
                  <c:v>5.036913075528584</c:v>
                </c:pt>
                <c:pt idx="69">
                  <c:v>3.7892492754628537</c:v>
                </c:pt>
                <c:pt idx="70">
                  <c:v>4.477213910031538</c:v>
                </c:pt>
                <c:pt idx="71">
                  <c:v>4.8581251732275845</c:v>
                </c:pt>
                <c:pt idx="72">
                  <c:v>4.305028941419595</c:v>
                </c:pt>
                <c:pt idx="73">
                  <c:v>4.296540151973174</c:v>
                </c:pt>
                <c:pt idx="74">
                  <c:v>2.498647919153283</c:v>
                </c:pt>
                <c:pt idx="75">
                  <c:v>3.934925579139594</c:v>
                </c:pt>
                <c:pt idx="76">
                  <c:v>3.908416087234446</c:v>
                </c:pt>
                <c:pt idx="77">
                  <c:v>3.496367821152595</c:v>
                </c:pt>
                <c:pt idx="78">
                  <c:v>3.466400146484375</c:v>
                </c:pt>
                <c:pt idx="79">
                  <c:v>2.9275629132304326</c:v>
                </c:pt>
                <c:pt idx="80">
                  <c:v>1.6538170533069132</c:v>
                </c:pt>
                <c:pt idx="81">
                  <c:v>0.7900433754943723</c:v>
                </c:pt>
                <c:pt idx="82">
                  <c:v>0.7399425517449216</c:v>
                </c:pt>
                <c:pt idx="83">
                  <c:v>0.5900900925089134</c:v>
                </c:pt>
                <c:pt idx="84">
                  <c:v>0.8225310339676567</c:v>
                </c:pt>
                <c:pt idx="85">
                  <c:v>0.43919643883952286</c:v>
                </c:pt>
                <c:pt idx="86">
                  <c:v>0.024739562313901807</c:v>
                </c:pt>
                <c:pt idx="87">
                  <c:v>2.9260795543711637</c:v>
                </c:pt>
                <c:pt idx="88">
                  <c:v>0.6890306406098778</c:v>
                </c:pt>
                <c:pt idx="89">
                  <c:v>3.0941900269469653</c:v>
                </c:pt>
                <c:pt idx="90">
                  <c:v>2.9262796517599914</c:v>
                </c:pt>
                <c:pt idx="91">
                  <c:v>1.5212766384671883</c:v>
                </c:pt>
                <c:pt idx="92">
                  <c:v>2.761168496795482</c:v>
                </c:pt>
                <c:pt idx="93">
                  <c:v>1.2853427887426314</c:v>
                </c:pt>
                <c:pt idx="94">
                  <c:v>2.774914023886919</c:v>
                </c:pt>
                <c:pt idx="95">
                  <c:v>2.5121077078908423</c:v>
                </c:pt>
                <c:pt idx="96">
                  <c:v>2.0162015179816097</c:v>
                </c:pt>
                <c:pt idx="97">
                  <c:v>1.3087071632930196</c:v>
                </c:pt>
                <c:pt idx="98">
                  <c:v>1.2967227795001002</c:v>
                </c:pt>
                <c:pt idx="99">
                  <c:v>1.197290244916017</c:v>
                </c:pt>
                <c:pt idx="100">
                  <c:v>1.2611684967954824</c:v>
                </c:pt>
                <c:pt idx="101">
                  <c:v>1.379046134806411</c:v>
                </c:pt>
                <c:pt idx="102">
                  <c:v>0.7417004032169713</c:v>
                </c:pt>
                <c:pt idx="103">
                  <c:v>0.6302420121605011</c:v>
                </c:pt>
                <c:pt idx="104">
                  <c:v>1.228103556458669</c:v>
                </c:pt>
                <c:pt idx="105">
                  <c:v>0.7167414560888414</c:v>
                </c:pt>
                <c:pt idx="106">
                  <c:v>1.0670950032503888</c:v>
                </c:pt>
                <c:pt idx="107">
                  <c:v>0.6850421979111921</c:v>
                </c:pt>
                <c:pt idx="108">
                  <c:v>0.9583892410185209</c:v>
                </c:pt>
                <c:pt idx="109">
                  <c:v>0.3889255125861664</c:v>
                </c:pt>
                <c:pt idx="110">
                  <c:v>0.07387164632193183</c:v>
                </c:pt>
                <c:pt idx="111">
                  <c:v>0.03930136070372595</c:v>
                </c:pt>
                <c:pt idx="112">
                  <c:v>1.0200607844144698</c:v>
                </c:pt>
                <c:pt idx="113">
                  <c:v>0.04192634365746506</c:v>
                </c:pt>
                <c:pt idx="114">
                  <c:v>0.9557918335035196</c:v>
                </c:pt>
                <c:pt idx="115">
                  <c:v>0.17246920671617566</c:v>
                </c:pt>
                <c:pt idx="116">
                  <c:v>0.002632962139846241</c:v>
                </c:pt>
                <c:pt idx="117">
                  <c:v>1.0532850082453602</c:v>
                </c:pt>
                <c:pt idx="118">
                  <c:v>0.48961423002769877</c:v>
                </c:pt>
                <c:pt idx="119">
                  <c:v>0.011235921194182319</c:v>
                </c:pt>
                <c:pt idx="120">
                  <c:v>-0.2048623237209253</c:v>
                </c:pt>
                <c:pt idx="121">
                  <c:v>0.8035544027095196</c:v>
                </c:pt>
                <c:pt idx="122">
                  <c:v>0.08864200894699338</c:v>
                </c:pt>
                <c:pt idx="123">
                  <c:v>0.08533815610561499</c:v>
                </c:pt>
                <c:pt idx="124">
                  <c:v>0.5228666567971944</c:v>
                </c:pt>
                <c:pt idx="125">
                  <c:v>0.9470787519101496</c:v>
                </c:pt>
                <c:pt idx="126">
                  <c:v>2.361521180808714</c:v>
                </c:pt>
                <c:pt idx="127">
                  <c:v>0.21374683865578295</c:v>
                </c:pt>
                <c:pt idx="128">
                  <c:v>0.03575937518085759</c:v>
                </c:pt>
                <c:pt idx="129">
                  <c:v>0.04404363099885481</c:v>
                </c:pt>
                <c:pt idx="130">
                  <c:v>0.8299321348407092</c:v>
                </c:pt>
                <c:pt idx="131">
                  <c:v>0.4100658711685062</c:v>
                </c:pt>
                <c:pt idx="132">
                  <c:v>1.0118244739890165</c:v>
                </c:pt>
                <c:pt idx="133">
                  <c:v>0.5346410929918972</c:v>
                </c:pt>
                <c:pt idx="134">
                  <c:v>1.031011024377438</c:v>
                </c:pt>
                <c:pt idx="135">
                  <c:v>1.078790433931959</c:v>
                </c:pt>
                <c:pt idx="136">
                  <c:v>0.26708333623078123</c:v>
                </c:pt>
                <c:pt idx="137">
                  <c:v>0.4128247403725765</c:v>
                </c:pt>
                <c:pt idx="138">
                  <c:v>1.1932013160622814</c:v>
                </c:pt>
                <c:pt idx="139">
                  <c:v>0.20729163458777927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Sheet1!$B$143</c:f>
              <c:strCache>
                <c:ptCount val="1"/>
                <c:pt idx="0">
                  <c:v>Decoy (n=106)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C0392B"/>
              </a:solidFill>
              <a:ln>
                <a:noFill/>
              </a:ln>
            </c:spPr>
          </c:marker>
          <c:xVal>
            <c:numRef>
              <c:f>Sheet1!$A$144:$A$249</c:f>
              <c:numCache>
                <c:formatCode>General</c:formatCode>
                <c:ptCount val="106"/>
                <c:pt idx="0">
                  <c:v>0.35704542579278453</c:v>
                </c:pt>
                <c:pt idx="1">
                  <c:v>0.34951223502692585</c:v>
                </c:pt>
                <c:pt idx="2">
                  <c:v>0.37950775365480877</c:v>
                </c:pt>
                <c:pt idx="3">
                  <c:v>0.4080169087836339</c:v>
                </c:pt>
                <c:pt idx="4">
                  <c:v>0.40524341099599437</c:v>
                </c:pt>
                <c:pt idx="5">
                  <c:v>0.35647697967208436</c:v>
                </c:pt>
                <c:pt idx="6">
                  <c:v>0.41866984411539426</c:v>
                </c:pt>
                <c:pt idx="7">
                  <c:v>0.37761957095494636</c:v>
                </c:pt>
                <c:pt idx="8">
                  <c:v>0.3799879689844835</c:v>
                </c:pt>
                <c:pt idx="9">
                  <c:v>0.3805465858950467</c:v>
                </c:pt>
                <c:pt idx="10">
                  <c:v>0.3590038386663917</c:v>
                </c:pt>
                <c:pt idx="11">
                  <c:v>0.3715302872639158</c:v>
                </c:pt>
                <c:pt idx="12">
                  <c:v>0.3343772585375242</c:v>
                </c:pt>
                <c:pt idx="13">
                  <c:v>0.3968216689800671</c:v>
                </c:pt>
                <c:pt idx="14">
                  <c:v>0.3527986096281621</c:v>
                </c:pt>
                <c:pt idx="15">
                  <c:v>0.3144336003488893</c:v>
                </c:pt>
                <c:pt idx="16">
                  <c:v>0.2823277378428341</c:v>
                </c:pt>
                <c:pt idx="17">
                  <c:v>0.3120619194254752</c:v>
                </c:pt>
                <c:pt idx="18">
                  <c:v>0.3093505061068088</c:v>
                </c:pt>
                <c:pt idx="19">
                  <c:v>0.3381111928259614</c:v>
                </c:pt>
                <c:pt idx="20">
                  <c:v>0.39367902593730103</c:v>
                </c:pt>
                <c:pt idx="21">
                  <c:v>0.31338822880212913</c:v>
                </c:pt>
                <c:pt idx="22">
                  <c:v>0.7429625628159741</c:v>
                </c:pt>
                <c:pt idx="23">
                  <c:v>0.6860226650432488</c:v>
                </c:pt>
                <c:pt idx="24">
                  <c:v>0.32684082693621547</c:v>
                </c:pt>
                <c:pt idx="25">
                  <c:v>0.30510370396166203</c:v>
                </c:pt>
                <c:pt idx="26">
                  <c:v>0.3527985885989487</c:v>
                </c:pt>
                <c:pt idx="27">
                  <c:v>0.3313783618515637</c:v>
                </c:pt>
                <c:pt idx="28">
                  <c:v>0.7601327162072317</c:v>
                </c:pt>
                <c:pt idx="29">
                  <c:v>0.32538055601788674</c:v>
                </c:pt>
                <c:pt idx="30">
                  <c:v>0.530285735792925</c:v>
                </c:pt>
                <c:pt idx="31">
                  <c:v>0.34598412728053873</c:v>
                </c:pt>
                <c:pt idx="32">
                  <c:v>0.32394971509434695</c:v>
                </c:pt>
                <c:pt idx="33">
                  <c:v>0.3027385506618738</c:v>
                </c:pt>
                <c:pt idx="34">
                  <c:v>0.5066751521256416</c:v>
                </c:pt>
                <c:pt idx="35">
                  <c:v>0.7304508319418537</c:v>
                </c:pt>
                <c:pt idx="36">
                  <c:v>0.7791584718158443</c:v>
                </c:pt>
                <c:pt idx="37">
                  <c:v>0.3227573477878738</c:v>
                </c:pt>
                <c:pt idx="38">
                  <c:v>0.2907821569198786</c:v>
                </c:pt>
                <c:pt idx="39">
                  <c:v>0.3201667792337097</c:v>
                </c:pt>
                <c:pt idx="40">
                  <c:v>0.2780646049557264</c:v>
                </c:pt>
                <c:pt idx="41">
                  <c:v>0.320836488805754</c:v>
                </c:pt>
                <c:pt idx="42">
                  <c:v>0.31394357761715075</c:v>
                </c:pt>
                <c:pt idx="43">
                  <c:v>0.6386675681002572</c:v>
                </c:pt>
                <c:pt idx="44">
                  <c:v>0.6548250168806948</c:v>
                </c:pt>
                <c:pt idx="45">
                  <c:v>0.3563692033954497</c:v>
                </c:pt>
                <c:pt idx="46">
                  <c:v>0.3539354325510441</c:v>
                </c:pt>
                <c:pt idx="47">
                  <c:v>0.945388268256049</c:v>
                </c:pt>
                <c:pt idx="48">
                  <c:v>0.3482251112529508</c:v>
                </c:pt>
                <c:pt idx="49">
                  <c:v>0.41458637197679044</c:v>
                </c:pt>
                <c:pt idx="50">
                  <c:v>0.6353223529809368</c:v>
                </c:pt>
                <c:pt idx="51">
                  <c:v>0.4046749991451235</c:v>
                </c:pt>
                <c:pt idx="52">
                  <c:v>0.9004047946008494</c:v>
                </c:pt>
                <c:pt idx="53">
                  <c:v>0.37107294704531263</c:v>
                </c:pt>
                <c:pt idx="54">
                  <c:v>0.3639382902498024</c:v>
                </c:pt>
                <c:pt idx="55">
                  <c:v>0.5206422011488941</c:v>
                </c:pt>
                <c:pt idx="56">
                  <c:v>0.3726965113637757</c:v>
                </c:pt>
                <c:pt idx="57">
                  <c:v>0.3371082749774218</c:v>
                </c:pt>
                <c:pt idx="58">
                  <c:v>0.5462455890212278</c:v>
                </c:pt>
                <c:pt idx="59">
                  <c:v>0.39233639633329276</c:v>
                </c:pt>
                <c:pt idx="60">
                  <c:v>0.3683158006394177</c:v>
                </c:pt>
                <c:pt idx="61">
                  <c:v>0.7065903261979312</c:v>
                </c:pt>
                <c:pt idx="62">
                  <c:v>0.3188633511990054</c:v>
                </c:pt>
                <c:pt idx="63">
                  <c:v>0.39867719097486726</c:v>
                </c:pt>
                <c:pt idx="64">
                  <c:v>0.3034180279141343</c:v>
                </c:pt>
                <c:pt idx="65">
                  <c:v>0.3069298325680818</c:v>
                </c:pt>
                <c:pt idx="66">
                  <c:v>0.3715433643192407</c:v>
                </c:pt>
                <c:pt idx="67">
                  <c:v>0.3103305422239689</c:v>
                </c:pt>
                <c:pt idx="68">
                  <c:v>0.3077432386499073</c:v>
                </c:pt>
                <c:pt idx="69">
                  <c:v>0.7179227481282692</c:v>
                </c:pt>
                <c:pt idx="70">
                  <c:v>0.2982565274180069</c:v>
                </c:pt>
                <c:pt idx="71">
                  <c:v>0.36186065380827775</c:v>
                </c:pt>
                <c:pt idx="72">
                  <c:v>0.3255863603624337</c:v>
                </c:pt>
                <c:pt idx="73">
                  <c:v>0.3074949837225788</c:v>
                </c:pt>
                <c:pt idx="74">
                  <c:v>0.31706008679962067</c:v>
                </c:pt>
                <c:pt idx="75">
                  <c:v>0.3209426540109807</c:v>
                </c:pt>
                <c:pt idx="76">
                  <c:v>0.27754517909986043</c:v>
                </c:pt>
                <c:pt idx="77">
                  <c:v>0.2972879319718217</c:v>
                </c:pt>
                <c:pt idx="78">
                  <c:v>0.29358505588449607</c:v>
                </c:pt>
                <c:pt idx="79">
                  <c:v>0.38304239214026076</c:v>
                </c:pt>
                <c:pt idx="80">
                  <c:v>0.4834009829110443</c:v>
                </c:pt>
                <c:pt idx="81">
                  <c:v>0.3893733996301251</c:v>
                </c:pt>
                <c:pt idx="82">
                  <c:v>0.30788699902618855</c:v>
                </c:pt>
                <c:pt idx="83">
                  <c:v>0.26923449781216424</c:v>
                </c:pt>
                <c:pt idx="84">
                  <c:v>0.3580973179534327</c:v>
                </c:pt>
                <c:pt idx="85">
                  <c:v>0.3052539654803374</c:v>
                </c:pt>
                <c:pt idx="86">
                  <c:v>0.38212769768357885</c:v>
                </c:pt>
                <c:pt idx="87">
                  <c:v>0.38467904831238414</c:v>
                </c:pt>
                <c:pt idx="88">
                  <c:v>0.30345069718665385</c:v>
                </c:pt>
                <c:pt idx="89">
                  <c:v>0.3179715209493585</c:v>
                </c:pt>
                <c:pt idx="90">
                  <c:v>0.37662646401333943</c:v>
                </c:pt>
                <c:pt idx="91">
                  <c:v>0.46528019380074487</c:v>
                </c:pt>
                <c:pt idx="92">
                  <c:v>0.8128780772188231</c:v>
                </c:pt>
                <c:pt idx="93">
                  <c:v>0.34230572296678724</c:v>
                </c:pt>
                <c:pt idx="94">
                  <c:v>0.3573459690804889</c:v>
                </c:pt>
                <c:pt idx="95">
                  <c:v>0.32345971339182183</c:v>
                </c:pt>
                <c:pt idx="96">
                  <c:v>0.31977234070268007</c:v>
                </c:pt>
                <c:pt idx="97">
                  <c:v>0.3151098211885046</c:v>
                </c:pt>
                <c:pt idx="98">
                  <c:v>0.5166731006713497</c:v>
                </c:pt>
                <c:pt idx="99">
                  <c:v>0.3145250743119441</c:v>
                </c:pt>
                <c:pt idx="100">
                  <c:v>0.31197372290427905</c:v>
                </c:pt>
                <c:pt idx="101">
                  <c:v>0.352318382615591</c:v>
                </c:pt>
                <c:pt idx="102">
                  <c:v>0.3554577528896569</c:v>
                </c:pt>
                <c:pt idx="103">
                  <c:v>0.3416197040714252</c:v>
                </c:pt>
                <c:pt idx="104">
                  <c:v>0.3436091611266684</c:v>
                </c:pt>
                <c:pt idx="105">
                  <c:v>0.35398771740655105</c:v>
                </c:pt>
              </c:numCache>
            </c:numRef>
          </c:xVal>
          <c:yVal>
            <c:numRef>
              <c:f>Sheet1!$B$144:$B$249</c:f>
              <c:numCache>
                <c:formatCode>General</c:formatCode>
                <c:ptCount val="106"/>
                <c:pt idx="0">
                  <c:v>0.016551360352218658</c:v>
                </c:pt>
                <c:pt idx="1">
                  <c:v>0.013122696856386043</c:v>
                </c:pt>
                <c:pt idx="2">
                  <c:v>0.02060743236130119</c:v>
                </c:pt>
                <c:pt idx="3">
                  <c:v>0.046661631216132315</c:v>
                </c:pt>
                <c:pt idx="4">
                  <c:v>0.031922602702761295</c:v>
                </c:pt>
                <c:pt idx="5">
                  <c:v>0.5172743547388945</c:v>
                </c:pt>
                <c:pt idx="6">
                  <c:v>0.054681612088160934</c:v>
                </c:pt>
                <c:pt idx="7">
                  <c:v>0.11201706708443947</c:v>
                </c:pt>
                <c:pt idx="8">
                  <c:v>0.5602094564496474</c:v>
                </c:pt>
                <c:pt idx="9">
                  <c:v>0.04197793962023599</c:v>
                </c:pt>
                <c:pt idx="10">
                  <c:v>0.042881651619410724</c:v>
                </c:pt>
                <c:pt idx="11">
                  <c:v>0.030598831855915942</c:v>
                </c:pt>
                <c:pt idx="12">
                  <c:v>0.026510182913142874</c:v>
                </c:pt>
                <c:pt idx="13">
                  <c:v>0.029241320851405503</c:v>
                </c:pt>
                <c:pt idx="14">
                  <c:v>0.020676664411592393</c:v>
                </c:pt>
                <c:pt idx="15">
                  <c:v>0.019178848318517936</c:v>
                </c:pt>
                <c:pt idx="16">
                  <c:v>0.015643815853357373</c:v>
                </c:pt>
                <c:pt idx="17">
                  <c:v>0.015262899266873</c:v>
                </c:pt>
                <c:pt idx="18">
                  <c:v>0.017740963657947046</c:v>
                </c:pt>
                <c:pt idx="19">
                  <c:v>0.3266667586939286</c:v>
                </c:pt>
                <c:pt idx="20">
                  <c:v>0.14662688473527646</c:v>
                </c:pt>
                <c:pt idx="21">
                  <c:v>0.003929870344405286</c:v>
                </c:pt>
                <c:pt idx="22">
                  <c:v>-0.051294849879954155</c:v>
                </c:pt>
                <c:pt idx="23">
                  <c:v>-0.022999954223632813</c:v>
                </c:pt>
                <c:pt idx="24">
                  <c:v>0.08137921463721136</c:v>
                </c:pt>
                <c:pt idx="25">
                  <c:v>0.041436421333016615</c:v>
                </c:pt>
                <c:pt idx="26">
                  <c:v>0.6460981241736752</c:v>
                </c:pt>
                <c:pt idx="27">
                  <c:v>0.6892910985246458</c:v>
                </c:pt>
                <c:pt idx="28">
                  <c:v>-0.19447663442602706</c:v>
                </c:pt>
                <c:pt idx="29">
                  <c:v>0.1216931295454338</c:v>
                </c:pt>
                <c:pt idx="30">
                  <c:v>-0.0056921888763656</c:v>
                </c:pt>
                <c:pt idx="31">
                  <c:v>0.024454684518906252</c:v>
                </c:pt>
                <c:pt idx="32">
                  <c:v>0.5970050184530419</c:v>
                </c:pt>
                <c:pt idx="33">
                  <c:v>0.5887431200477825</c:v>
                </c:pt>
                <c:pt idx="34">
                  <c:v>-0.0031238619358599073</c:v>
                </c:pt>
                <c:pt idx="35">
                  <c:v>0.1295349152349909</c:v>
                </c:pt>
                <c:pt idx="36">
                  <c:v>-0.1105111638743416</c:v>
                </c:pt>
                <c:pt idx="37">
                  <c:v>0.6453846613048777</c:v>
                </c:pt>
                <c:pt idx="38">
                  <c:v>0.6394194225617091</c:v>
                </c:pt>
                <c:pt idx="39">
                  <c:v>0.0477517403227958</c:v>
                </c:pt>
                <c:pt idx="40">
                  <c:v>0.03475132698596485</c:v>
                </c:pt>
                <c:pt idx="41">
                  <c:v>0.028458867213282626</c:v>
                </c:pt>
                <c:pt idx="42">
                  <c:v>0.04626338511953217</c:v>
                </c:pt>
                <c:pt idx="43">
                  <c:v>-0.13773638295229487</c:v>
                </c:pt>
                <c:pt idx="44">
                  <c:v>-0.12808684834688336</c:v>
                </c:pt>
                <c:pt idx="45">
                  <c:v>0.07854135993544976</c:v>
                </c:pt>
                <c:pt idx="46">
                  <c:v>0.11777303266385533</c:v>
                </c:pt>
                <c:pt idx="47">
                  <c:v>-0.18690718358748953</c:v>
                </c:pt>
                <c:pt idx="48">
                  <c:v>0.07328609348276767</c:v>
                </c:pt>
                <c:pt idx="49">
                  <c:v>0.03790090726261208</c:v>
                </c:pt>
                <c:pt idx="50">
                  <c:v>-0.12272729167343992</c:v>
                </c:pt>
                <c:pt idx="51">
                  <c:v>0.6401401156532883</c:v>
                </c:pt>
                <c:pt idx="52">
                  <c:v>-0.05986395025635024</c:v>
                </c:pt>
                <c:pt idx="53">
                  <c:v>0.6511400523464658</c:v>
                </c:pt>
                <c:pt idx="54">
                  <c:v>0.041389215835394545</c:v>
                </c:pt>
                <c:pt idx="55">
                  <c:v>0.09788243910845588</c:v>
                </c:pt>
                <c:pt idx="56">
                  <c:v>0.7527940376810068</c:v>
                </c:pt>
                <c:pt idx="57">
                  <c:v>0.02940122486795509</c:v>
                </c:pt>
                <c:pt idx="58">
                  <c:v>0.3107691445650332</c:v>
                </c:pt>
                <c:pt idx="59">
                  <c:v>0.04936752449359159</c:v>
                </c:pt>
                <c:pt idx="60">
                  <c:v>0.04732759157373758</c:v>
                </c:pt>
                <c:pt idx="61">
                  <c:v>0.044272634893721116</c:v>
                </c:pt>
                <c:pt idx="62">
                  <c:v>0.043889842004611816</c:v>
                </c:pt>
                <c:pt idx="63">
                  <c:v>0.04351033362511476</c:v>
                </c:pt>
                <c:pt idx="64">
                  <c:v>0.04478901393485731</c:v>
                </c:pt>
                <c:pt idx="65">
                  <c:v>0.050343197241982836</c:v>
                </c:pt>
                <c:pt idx="66">
                  <c:v>0.8547224752900731</c:v>
                </c:pt>
                <c:pt idx="67">
                  <c:v>0.08337195625687496</c:v>
                </c:pt>
                <c:pt idx="68">
                  <c:v>1.1938346359495347</c:v>
                </c:pt>
                <c:pt idx="69">
                  <c:v>-0.03229816376660553</c:v>
                </c:pt>
                <c:pt idx="70">
                  <c:v>0.06506023487274365</c:v>
                </c:pt>
                <c:pt idx="71">
                  <c:v>0.07646476181997884</c:v>
                </c:pt>
                <c:pt idx="72">
                  <c:v>0.07079652752837852</c:v>
                </c:pt>
                <c:pt idx="73">
                  <c:v>0.017736474864797142</c:v>
                </c:pt>
                <c:pt idx="74">
                  <c:v>0.03709201034845074</c:v>
                </c:pt>
                <c:pt idx="75">
                  <c:v>0.022591547580411566</c:v>
                </c:pt>
                <c:pt idx="76">
                  <c:v>0.008474635249893867</c:v>
                </c:pt>
                <c:pt idx="77">
                  <c:v>0.00703823065306332</c:v>
                </c:pt>
                <c:pt idx="78">
                  <c:v>0.023255744853991248</c:v>
                </c:pt>
                <c:pt idx="79">
                  <c:v>0.029815697482836714</c:v>
                </c:pt>
                <c:pt idx="80">
                  <c:v>0.8424734047888177</c:v>
                </c:pt>
                <c:pt idx="81">
                  <c:v>0.038643552474415366</c:v>
                </c:pt>
                <c:pt idx="82">
                  <c:v>0.03431367913728181</c:v>
                </c:pt>
                <c:pt idx="83">
                  <c:v>0.023927428690075817</c:v>
                </c:pt>
                <c:pt idx="84">
                  <c:v>0.06462443773288457</c:v>
                </c:pt>
                <c:pt idx="85">
                  <c:v>1.1984546133071885</c:v>
                </c:pt>
                <c:pt idx="86">
                  <c:v>0.5559012863368403</c:v>
                </c:pt>
                <c:pt idx="87">
                  <c:v>0.08267166889105296</c:v>
                </c:pt>
                <c:pt idx="88">
                  <c:v>0.030143240694151998</c:v>
                </c:pt>
                <c:pt idx="89">
                  <c:v>0.02219144470849665</c:v>
                </c:pt>
                <c:pt idx="90">
                  <c:v>0.13068781233305182</c:v>
                </c:pt>
                <c:pt idx="91">
                  <c:v>0.1742424305578133</c:v>
                </c:pt>
                <c:pt idx="92">
                  <c:v>0.17708339441544504</c:v>
                </c:pt>
                <c:pt idx="93">
                  <c:v>0.012826438489647304</c:v>
                </c:pt>
                <c:pt idx="94">
                  <c:v>0.2944152865258484</c:v>
                </c:pt>
                <c:pt idx="95">
                  <c:v>0.018027527609652944</c:v>
                </c:pt>
                <c:pt idx="96">
                  <c:v>0.03396541144502726</c:v>
                </c:pt>
                <c:pt idx="97">
                  <c:v>0.012658207198381136</c:v>
                </c:pt>
                <c:pt idx="98">
                  <c:v>-0.014415821152068173</c:v>
                </c:pt>
                <c:pt idx="99">
                  <c:v>0.005873427029915067</c:v>
                </c:pt>
                <c:pt idx="100">
                  <c:v>0.01328807717077173</c:v>
                </c:pt>
                <c:pt idx="101">
                  <c:v>0.03420528695755149</c:v>
                </c:pt>
                <c:pt idx="102">
                  <c:v>0.007168464907145925</c:v>
                </c:pt>
                <c:pt idx="103">
                  <c:v>0.005962249335704119</c:v>
                </c:pt>
                <c:pt idx="104">
                  <c:v>0.000275755697148857</c:v>
                </c:pt>
                <c:pt idx="105">
                  <c:v>0.002768546465910139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Sheet1!$B$251</c:f>
              <c:strCache>
                <c:ptCount val="1"/>
                <c:pt idx="0">
                  <c:v>height ≥ 0.5554 m</c:v>
                </c:pt>
              </c:strCache>
            </c:strRef>
          </c:tx>
          <c:spPr>
            <a:ln w="15875">
              <a:solidFill>
                <a:srgbClr val="5B6475"/>
              </a:solidFill>
              <a:prstDash val="dash"/>
            </a:ln>
          </c:spPr>
          <c:marker>
            <c:symbol val="none"/>
          </c:marker>
          <c:xVal>
            <c:numRef>
              <c:f>Sheet1!$A$252:$A$253</c:f>
              <c:numCache>
                <c:formatCode>General</c:formatCode>
                <c:ptCount val="2"/>
                <c:pt idx="0">
                  <c:v>0.5554</c:v>
                </c:pt>
                <c:pt idx="1">
                  <c:v>0.5554</c:v>
                </c:pt>
              </c:numCache>
            </c:numRef>
          </c:xVal>
          <c:yVal>
            <c:numRef>
              <c:f>Sheet1!$B$252:$B$253</c:f>
              <c:numCache>
                <c:formatCode>General</c:formatCode>
                <c:ptCount val="2"/>
                <c:pt idx="0">
                  <c:v>-0.5</c:v>
                </c:pt>
                <c:pt idx="1">
                  <c:v>5.5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Sheet1!$B$255</c:f>
              <c:strCache>
                <c:ptCount val="1"/>
                <c:pt idx="0">
                  <c:v>contrast ≥ 0.1922</c:v>
                </c:pt>
              </c:strCache>
            </c:strRef>
          </c:tx>
          <c:spPr>
            <a:ln w="15875">
              <a:solidFill>
                <a:srgbClr val="5B6475"/>
              </a:solidFill>
              <a:prstDash val="dash"/>
            </a:ln>
          </c:spPr>
          <c:marker>
            <c:symbol val="none"/>
          </c:marker>
          <c:xVal>
            <c:numRef>
              <c:f>Sheet1!$A$256:$A$257</c:f>
              <c:numCache>
                <c:formatCode>General</c:formatCode>
                <c:ptCount val="2"/>
                <c:pt idx="0">
                  <c:v>0.0</c:v>
                </c:pt>
                <c:pt idx="1">
                  <c:v>1.6</c:v>
                </c:pt>
              </c:numCache>
            </c:numRef>
          </c:xVal>
          <c:yVal>
            <c:numRef>
              <c:f>Sheet1!$B$256:$B$257</c:f>
              <c:numCache>
                <c:formatCode>General</c:formatCode>
                <c:ptCount val="2"/>
                <c:pt idx="0">
                  <c:v>0.1922</c:v>
                </c:pt>
                <c:pt idx="1">
                  <c:v>0.1922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6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5B6475"/>
                    </a:solidFill>
                    <a:latin typeface="Arial"/>
                  </a:rPr>
                  <a:t>Projected box height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50">
                <a:solidFill>
                  <a:srgbClr val="5B6475"/>
                </a:solidFill>
                <a:latin typeface="Arial"/>
              </a:defRPr>
            </a:pPr>
          </a:p>
        </c:txPr>
        <c:crossAx val="-2129643912"/>
        <c:crosses val="min"/>
        <c:crossBetween val="midCat"/>
        <c:majorUnit val="0.4"/>
      </c:valAx>
      <c:valAx>
        <c:axId val="-2129643912"/>
        <c:scaling>
          <c:orientation val="minMax"/>
          <c:max val="5.5"/>
          <c:min val="-0.5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5B6475"/>
                    </a:solidFill>
                    <a:latin typeface="Arial"/>
                  </a:rPr>
                  <a:t>Relative contrast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E3E6EB"/>
            </a:solidFill>
          </a:ln>
        </c:spPr>
        <c:txPr>
          <a:bodyPr/>
          <a:lstStyle/>
          <a:p>
            <a:pPr>
              <a:defRPr sz="1050">
                <a:solidFill>
                  <a:srgbClr val="5B6475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</c:plotArea>
    <c:legend>
      <c:legendPos val="b"/>
      <c:layout/>
      <c:overlay val="0"/>
      <c:txPr>
        <a:bodyPr/>
        <a:lstStyle/>
        <a:p>
          <a:pPr>
            <a:defRPr sz="1050">
              <a:solidFill>
                <a:srgbClr val="5B6475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4287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Arial"/>
              </a:rPr>
              <a:t>R7020E · OBJECT DETECTION AND LOCALIZATION ·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733550"/>
            <a:ext cx="111252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750" b="1" i="0">
                <a:solidFill>
                  <a:srgbClr val="1D2433"/>
                </a:solidFill>
                <a:latin typeface="Arial"/>
              </a:rPr>
              <a:t>Fire extinguisher detection,</a:t>
            </a:r>
          </a:p>
          <a:p>
            <a:pPr algn="l">
              <a:spcAft>
                <a:spcPts val="0"/>
              </a:spcAft>
            </a:pPr>
            <a:r>
              <a:rPr sz="3750" b="1" i="0">
                <a:solidFill>
                  <a:srgbClr val="1D2433"/>
                </a:solidFill>
                <a:latin typeface="Arial"/>
              </a:rPr>
              <a:t>decoy rejection and 3D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105150"/>
            <a:ext cx="11125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0" i="0">
                <a:solidFill>
                  <a:srgbClr val="5B6475"/>
                </a:solidFill>
                <a:latin typeface="Arial"/>
              </a:rPr>
              <a:t>RGB-D camera · YOLO detector · depth-based real/decoy filter · 3D position in metres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4000500"/>
            <a:ext cx="3562350" cy="1428750"/>
          </a:xfrm>
          <a:prstGeom prst="roundRect">
            <a:avLst>
              <a:gd name="adj" fmla="val 666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4000500"/>
            <a:ext cx="3543300" cy="47625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4191000"/>
            <a:ext cx="3238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6FB4"/>
                </a:solidFill>
                <a:latin typeface="Arial"/>
              </a:rPr>
              <a:t>TASK 1 ·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44577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1D2433"/>
                </a:solidFill>
                <a:latin typeface="Arial"/>
              </a:rPr>
              <a:t>Kelechi Athanesious Ezekwe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4819650"/>
            <a:ext cx="3238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475"/>
                </a:solidFill>
                <a:latin typeface="Arial"/>
              </a:rPr>
              <a:t>YOLO11n detector, trained on Roboflow photos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4825" y="4000500"/>
            <a:ext cx="3562350" cy="1428750"/>
          </a:xfrm>
          <a:prstGeom prst="roundRect">
            <a:avLst>
              <a:gd name="adj" fmla="val 666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4350" y="4000500"/>
            <a:ext cx="3543300" cy="47625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6275" y="4191000"/>
            <a:ext cx="3238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871E"/>
                </a:solidFill>
                <a:latin typeface="Arial"/>
              </a:rPr>
              <a:t>TASK 2 · REAL VS DECOY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44577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1D2433"/>
                </a:solidFill>
                <a:latin typeface="Arial"/>
              </a:rPr>
              <a:t>Shravani Kuchi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275" y="4819650"/>
            <a:ext cx="3238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475"/>
                </a:solidFill>
                <a:latin typeface="Arial"/>
              </a:rPr>
              <a:t>Depth-based filter that rejects printed decoys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6250" y="4000500"/>
            <a:ext cx="3562350" cy="1428750"/>
          </a:xfrm>
          <a:prstGeom prst="roundRect">
            <a:avLst>
              <a:gd name="adj" fmla="val 666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5775" y="4000500"/>
            <a:ext cx="3543300" cy="47625"/>
          </a:xfrm>
          <a:prstGeom prst="rect">
            <a:avLst/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7700" y="4191000"/>
            <a:ext cx="3238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E9E4F"/>
                </a:solidFill>
                <a:latin typeface="Arial"/>
              </a:rPr>
              <a:t>TASK 3 · 3D +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700" y="44577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1D2433"/>
                </a:solidFill>
                <a:latin typeface="Arial"/>
              </a:rPr>
              <a:t>Thanigaiarasu Shanmugam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4819650"/>
            <a:ext cx="3238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475"/>
                </a:solidFill>
                <a:latin typeface="Arial"/>
              </a:rPr>
              <a:t>3D centre, tracking, evaluation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5810250"/>
            <a:ext cx="1112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475"/>
                </a:solidFill>
                <a:latin typeface="Arial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Real or printed? A robot must know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38250"/>
            <a:ext cx="5143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1D2433"/>
                </a:solidFill>
                <a:latin typeface="Arial"/>
              </a:rPr>
              <a:t>Real-world problem: </a:t>
            </a:r>
            <a:r>
              <a:rPr sz="1500" b="0" i="0">
                <a:solidFill>
                  <a:srgbClr val="1D2433"/>
                </a:solidFill>
                <a:latin typeface="Arial"/>
              </a:rPr>
              <a:t>robots must tell real fire extinguishers from printed decoys.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1D2433"/>
                </a:solidFill>
                <a:latin typeface="Arial"/>
              </a:rPr>
              <a:t>Core challenge: </a:t>
            </a:r>
            <a:r>
              <a:rPr sz="1500" b="0" i="0">
                <a:solidFill>
                  <a:srgbClr val="1D2433"/>
                </a:solidFill>
                <a:latin typeface="Arial"/>
              </a:rPr>
              <a:t>in a colour image a printed extinguisher looks just like a real one.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1D2433"/>
                </a:solidFill>
                <a:latin typeface="Arial"/>
              </a:rPr>
              <a:t>Our idea: </a:t>
            </a:r>
            <a:r>
              <a:rPr sz="1500" b="1" i="0">
                <a:solidFill>
                  <a:srgbClr val="1F6FB4"/>
                </a:solidFill>
                <a:latin typeface="Arial"/>
              </a:rPr>
              <a:t>use depth (RGB-D)</a:t>
            </a:r>
            <a:r>
              <a:rPr sz="1500" b="0" i="0">
                <a:solidFill>
                  <a:srgbClr val="1D2433"/>
                </a:solidFill>
                <a:latin typeface="Arial"/>
              </a:rPr>
              <a:t> — a print is flat on a wall or block, a real one stands free in 3D.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0"/>
            <a:ext cx="5143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B6475"/>
                </a:solidFill>
                <a:latin typeface="Arial"/>
              </a:rPr>
              <a:t>Why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4095750"/>
            <a:ext cx="2474214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4095750"/>
            <a:ext cx="247421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Safety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compliance 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2864" y="4095750"/>
            <a:ext cx="1739646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2864" y="4095750"/>
            <a:ext cx="173964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Emergency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4495800"/>
            <a:ext cx="214807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4495800"/>
            <a:ext cx="214807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Indoor robot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navigation</a:t>
            </a:r>
          </a:p>
        </p:txBody>
      </p:sp>
      <p:pic>
        <p:nvPicPr>
          <p:cNvPr id="12" name="Picture 11" descr="ev_decoys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54" y="1238250"/>
            <a:ext cx="4473892" cy="4191000"/>
          </a:xfrm>
          <a:prstGeom prst="rect">
            <a:avLst/>
          </a:prstGeom>
          <a:ln w="9525">
            <a:solidFill>
              <a:srgbClr val="E3E6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096000" y="5524500"/>
            <a:ext cx="5562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B6475"/>
                </a:solidFill>
                <a:latin typeface="Arial"/>
              </a:rPr>
              <a:t>Same scene: one real extinguisher, several printed decoys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One pipeline, three stages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23950"/>
            <a:ext cx="6994800" cy="5448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82000" y="1238250"/>
            <a:ext cx="3276600" cy="1238250"/>
          </a:xfrm>
          <a:prstGeom prst="roundRect">
            <a:avLst>
              <a:gd name="adj" fmla="val 6153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91525" y="1238250"/>
            <a:ext cx="3257550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0" y="1371600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6FB4"/>
                </a:solidFill>
                <a:latin typeface="Arial"/>
              </a:rPr>
              <a:t>1  </a:t>
            </a:r>
            <a:r>
              <a:rPr sz="1500" b="1" i="0">
                <a:solidFill>
                  <a:srgbClr val="1D2433"/>
                </a:solidFill>
                <a:latin typeface="Arial"/>
              </a:rPr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1657350"/>
            <a:ext cx="2971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1F6FB4"/>
                </a:solidFill>
                <a:latin typeface="Arial"/>
              </a:rPr>
              <a:t>Kelechi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1905000"/>
            <a:ext cx="29718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YOLO11n finds every candidate box (conf ≥ 0.10)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20300" y="2495550"/>
            <a:ext cx="0" cy="24765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8382000" y="2762250"/>
            <a:ext cx="3276600" cy="1238250"/>
          </a:xfrm>
          <a:prstGeom prst="roundRect">
            <a:avLst>
              <a:gd name="adj" fmla="val 6153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1525" y="2762250"/>
            <a:ext cx="3257550" cy="381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0" y="2895600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871E"/>
                </a:solidFill>
                <a:latin typeface="Arial"/>
              </a:rPr>
              <a:t>2  </a:t>
            </a:r>
            <a:r>
              <a:rPr sz="1500" b="1" i="0">
                <a:solidFill>
                  <a:srgbClr val="1D2433"/>
                </a:solidFill>
                <a:latin typeface="Arial"/>
              </a:rPr>
              <a:t>Real vs decoy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3181350"/>
            <a:ext cx="2971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E8871E"/>
                </a:solidFill>
                <a:latin typeface="Arial"/>
              </a:rPr>
              <a:t>Shravani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0" y="3429000"/>
            <a:ext cx="29718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box height ≥ 0.56 m AND background ≥ 19 % further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20300" y="4019550"/>
            <a:ext cx="0" cy="24765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8382000" y="4286250"/>
            <a:ext cx="3276600" cy="1238250"/>
          </a:xfrm>
          <a:prstGeom prst="roundRect">
            <a:avLst>
              <a:gd name="adj" fmla="val 6153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1525" y="4286250"/>
            <a:ext cx="3257550" cy="38100"/>
          </a:xfrm>
          <a:prstGeom prst="rect">
            <a:avLst/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4400" y="4419600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9E4F"/>
                </a:solidFill>
                <a:latin typeface="Arial"/>
              </a:rPr>
              <a:t>3  </a:t>
            </a:r>
            <a:r>
              <a:rPr sz="1500" b="1" i="0">
                <a:solidFill>
                  <a:srgbClr val="1D2433"/>
                </a:solidFill>
                <a:latin typeface="Arial"/>
              </a:rPr>
              <a:t>3D +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4705350"/>
            <a:ext cx="2971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2E9E4F"/>
                </a:solidFill>
                <a:latin typeface="Arial"/>
              </a:rPr>
              <a:t>Thanigaiarasu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4953000"/>
            <a:ext cx="29718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X, Y, Z of the object centre in metres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2000" y="5886450"/>
            <a:ext cx="2111502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5886450"/>
            <a:ext cx="211150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whole pipeline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≈ 66 FPS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1 · DETECTION ·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Kelechi Athanesious Ezekwe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YOLO11n detector, trained on Roboflow photos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1181100"/>
            <a:ext cx="2714625" cy="876300"/>
          </a:xfrm>
          <a:prstGeom prst="roundRect">
            <a:avLst>
              <a:gd name="adj" fmla="val 8695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118110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129540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1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Roboflow 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524000"/>
            <a:ext cx="2486025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2,934 train / 328 val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1 class, web photos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2325" y="1181100"/>
            <a:ext cx="2714625" cy="876300"/>
          </a:xfrm>
          <a:prstGeom prst="roundRect">
            <a:avLst>
              <a:gd name="adj" fmla="val 8695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1850" y="118110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6625" y="129540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2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Fine-tune YOLO11n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6625" y="1524000"/>
            <a:ext cx="2486025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pretrained on COCO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100 epochs, patience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0" y="1181100"/>
            <a:ext cx="2714625" cy="876300"/>
          </a:xfrm>
          <a:prstGeom prst="roundRect">
            <a:avLst>
              <a:gd name="adj" fmla="val 8695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118110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129540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3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Default augmentation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550" y="1524000"/>
            <a:ext cx="2486025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flip, HSV, scale,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translate, mosaic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175" y="1181100"/>
            <a:ext cx="2714625" cy="876300"/>
          </a:xfrm>
          <a:prstGeom prst="roundRect">
            <a:avLst>
              <a:gd name="adj" fmla="val 8695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9700" y="118110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475" y="129540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4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Low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475" y="1524000"/>
            <a:ext cx="2486025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keep boxes with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confidence ≥ 0.10</a:t>
            </a:r>
          </a:p>
        </p:txBody>
      </p:sp>
      <p:pic>
        <p:nvPicPr>
          <p:cNvPr id="21" name="Picture 20" descr="image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06134"/>
            <a:ext cx="8191500" cy="3369732"/>
          </a:xfrm>
          <a:prstGeom prst="rect">
            <a:avLst/>
          </a:prstGeom>
          <a:ln w="9525">
            <a:solidFill>
              <a:srgbClr val="E3E6EB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8953500" y="2286000"/>
            <a:ext cx="2705100" cy="876300"/>
          </a:xfrm>
          <a:prstGeom prst="roundRect">
            <a:avLst>
              <a:gd name="adj" fmla="val 10869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6850" y="2381250"/>
            <a:ext cx="2438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6FB4"/>
                </a:solidFill>
                <a:latin typeface="Arial"/>
              </a:rPr>
              <a:t>0.93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6850" y="2781300"/>
            <a:ext cx="24384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mAP50 on Roboflow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500" y="3276600"/>
            <a:ext cx="2705100" cy="876300"/>
          </a:xfrm>
          <a:prstGeom prst="roundRect">
            <a:avLst>
              <a:gd name="adj" fmla="val 10869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6850" y="3371850"/>
            <a:ext cx="2438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E9E4F"/>
                </a:solidFill>
                <a:latin typeface="Arial"/>
              </a:rPr>
              <a:t>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6850" y="3771900"/>
            <a:ext cx="24384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TPR: every real found (eval and test)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500" y="4267200"/>
            <a:ext cx="2705100" cy="876300"/>
          </a:xfrm>
          <a:prstGeom prst="roundRect">
            <a:avLst>
              <a:gd name="adj" fmla="val 10869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6850" y="4362450"/>
            <a:ext cx="2438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0392B"/>
                </a:solidFill>
                <a:latin typeface="Arial"/>
              </a:rPr>
              <a:t>0.58 / 0.60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6850" y="4762500"/>
            <a:ext cx="24384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decoys also detected (eval / test)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3500" y="5257800"/>
            <a:ext cx="2705100" cy="838200"/>
          </a:xfrm>
          <a:prstGeom prst="roundRect">
            <a:avLst>
              <a:gd name="adj" fmla="val 11363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6850" y="5353050"/>
            <a:ext cx="2438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D2433"/>
                </a:solidFill>
                <a:latin typeface="Arial"/>
              </a:rPr>
              <a:t>14.6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6850" y="5753100"/>
            <a:ext cx="2438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per frame for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1 · DETECTION ·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Kelechi Athanesious Ezekwe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Detector alone: every real found, but most decoys too</a:t>
            </a:r>
          </a:p>
        </p:txBody>
      </p:sp>
      <p:pic>
        <p:nvPicPr>
          <p:cNvPr id="5" name="Picture 4" descr="image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0426"/>
            <a:ext cx="6858000" cy="4083848"/>
          </a:xfrm>
          <a:prstGeom prst="rect">
            <a:avLst/>
          </a:prstGeom>
          <a:ln w="9525">
            <a:solidFill>
              <a:srgbClr val="E3E6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10500" y="1333500"/>
            <a:ext cx="12382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0" y="133350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133350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15250" y="1657350"/>
            <a:ext cx="394335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810500" y="1657350"/>
            <a:ext cx="12382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1D2433"/>
                </a:solidFill>
                <a:latin typeface="Arial"/>
              </a:rPr>
              <a:t>Real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0" y="165735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75" b="0" i="0">
                <a:solidFill>
                  <a:srgbClr val="2E9E4F"/>
                </a:solidFill>
                <a:latin typeface="Arial"/>
              </a:rPr>
              <a:t>99 / 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6550" y="165735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75" b="0" i="0">
                <a:solidFill>
                  <a:srgbClr val="2E9E4F"/>
                </a:solidFill>
                <a:latin typeface="Arial"/>
              </a:rPr>
              <a:t>45 / 45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15250" y="1981200"/>
            <a:ext cx="394335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810500" y="1981200"/>
            <a:ext cx="12382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1D2433"/>
                </a:solidFill>
                <a:latin typeface="Arial"/>
              </a:rPr>
              <a:t>Decoys detected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0" y="198120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75" b="0" i="0">
                <a:solidFill>
                  <a:srgbClr val="C0392B"/>
                </a:solidFill>
                <a:latin typeface="Arial"/>
              </a:rPr>
              <a:t>93 / 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96550" y="198120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75" b="0" i="0">
                <a:solidFill>
                  <a:srgbClr val="C0392B"/>
                </a:solidFill>
                <a:latin typeface="Arial"/>
              </a:rPr>
              <a:t>62 / 103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250" y="2305050"/>
            <a:ext cx="394335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810500" y="2305050"/>
            <a:ext cx="12382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75" b="0" i="0">
                <a:solidFill>
                  <a:srgbClr val="1D2433"/>
                </a:solidFill>
                <a:latin typeface="Arial"/>
              </a:rPr>
              <a:t>Decoy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230505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75" b="0" i="0">
                <a:solidFill>
                  <a:srgbClr val="C0392B"/>
                </a:solidFill>
                <a:latin typeface="Arial"/>
              </a:rPr>
              <a:t>0.58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6550" y="2305050"/>
            <a:ext cx="10668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75" b="0" i="0">
                <a:solidFill>
                  <a:srgbClr val="C0392B"/>
                </a:solidFill>
                <a:latin typeface="Arial"/>
              </a:rPr>
              <a:t>0.60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250" y="2628900"/>
            <a:ext cx="394335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22" name="Rounded Rectangle 21"/>
          <p:cNvSpPr/>
          <p:nvPr/>
        </p:nvSpPr>
        <p:spPr>
          <a:xfrm>
            <a:off x="7715250" y="3048000"/>
            <a:ext cx="3050286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5250" y="3048000"/>
            <a:ext cx="305028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Printed decoys </a:t>
            </a:r>
            <a:r>
              <a:rPr sz="1200" b="1" i="0">
                <a:solidFill>
                  <a:srgbClr val="C0392B"/>
                </a:solidFill>
                <a:latin typeface="Arial"/>
              </a:rPr>
              <a:t>look real in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15250" y="3448050"/>
            <a:ext cx="233095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5250" y="3448050"/>
            <a:ext cx="233095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→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Stage 2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must remove them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15250" y="3848100"/>
            <a:ext cx="3483102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5250" y="3848100"/>
            <a:ext cx="348310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This detector-only result is the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1 · DETECTION ·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Kelechi Athanesious Ezekwe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Low threshold (0.10) on purpose</a:t>
            </a:r>
          </a:p>
        </p:txBody>
      </p:sp>
      <p:pic>
        <p:nvPicPr>
          <p:cNvPr id="5" name="Picture 4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90" y="1181100"/>
            <a:ext cx="10880820" cy="4476750"/>
          </a:xfrm>
          <a:prstGeom prst="rect">
            <a:avLst/>
          </a:prstGeom>
          <a:ln w="9525">
            <a:solidFill>
              <a:srgbClr val="E3E6EB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33400" y="5829300"/>
            <a:ext cx="4882134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5829300"/>
            <a:ext cx="488213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All detector boxes at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conf ≥ 0.10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(real, decoy, background)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0784" y="5829300"/>
            <a:ext cx="3071622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0784" y="5829300"/>
            <a:ext cx="307162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A real missed here is </a:t>
            </a:r>
            <a:r>
              <a:rPr sz="1200" b="1" i="0">
                <a:solidFill>
                  <a:srgbClr val="C0392B"/>
                </a:solidFill>
                <a:latin typeface="Arial"/>
              </a:rPr>
              <a:t>lost for good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6229350"/>
            <a:ext cx="301675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6229350"/>
            <a:ext cx="301675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Decoys are removed later by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Stage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3 · 3D LOCALISATION ·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Thanigaiarasu Shanmugam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Depth from stereo, position in the camera frame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428750" y="1314450"/>
            <a:ext cx="952500" cy="1543050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81250" y="1314450"/>
            <a:ext cx="952500" cy="1543050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</p:spPr>
      </p:cxnSp>
      <p:sp>
        <p:nvSpPr>
          <p:cNvPr id="7" name="Oval 6"/>
          <p:cNvSpPr/>
          <p:nvPr/>
        </p:nvSpPr>
        <p:spPr>
          <a:xfrm>
            <a:off x="2295525" y="1152525"/>
            <a:ext cx="171450" cy="1714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3650" y="114300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838450"/>
            <a:ext cx="762000" cy="342900"/>
          </a:xfrm>
          <a:prstGeom prst="roundRect">
            <a:avLst>
              <a:gd name="adj" fmla="val 11111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762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IR left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2838450"/>
            <a:ext cx="762000" cy="342900"/>
          </a:xfrm>
          <a:prstGeom prst="roundRect">
            <a:avLst>
              <a:gd name="adj" fmla="val 11111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8500" y="2838450"/>
            <a:ext cx="762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IR 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9250" y="1866900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D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9250" y="1866900"/>
            <a:ext cx="1524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1D2433"/>
                </a:solidFill>
                <a:latin typeface="Menlo"/>
              </a:rPr>
              <a:t>Z = f · B / 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333750"/>
            <a:ext cx="2476500" cy="0"/>
          </a:xfrm>
          <a:prstGeom prst="line">
            <a:avLst/>
          </a:prstGeom>
          <a:ln w="14287">
            <a:solidFill>
              <a:srgbClr val="1D2433"/>
            </a:solidFill>
            <a:tailEnd type="triangl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1714500" y="3371850"/>
            <a:ext cx="1333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B = 0.10 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286250" y="1143000"/>
            <a:ext cx="0" cy="1714500"/>
          </a:xfrm>
          <a:prstGeom prst="line">
            <a:avLst/>
          </a:prstGeom>
          <a:ln w="14287">
            <a:solidFill>
              <a:srgbClr val="1D2433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4381500" y="1905000"/>
            <a:ext cx="2857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2433"/>
                </a:solidFill>
                <a:latin typeface="Arial"/>
              </a:rPr>
              <a:t>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3905250"/>
            <a:ext cx="2961894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3905250"/>
            <a:ext cx="296189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dense disparity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d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per pixel (Lab 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4305300"/>
            <a:ext cx="219379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4305300"/>
            <a:ext cx="21937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depth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aligned to colour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4705350"/>
            <a:ext cx="248335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" y="4705350"/>
            <a:ext cx="248335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colour ↔ depth pairs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≤ 50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5105400"/>
            <a:ext cx="2205990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" y="5105400"/>
            <a:ext cx="220599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f ≈ 306 px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(camera_info)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400" y="5505450"/>
            <a:ext cx="3647694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400" y="5505450"/>
            <a:ext cx="364769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frame: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X right, Y down, Z forward</a:t>
            </a:r>
            <a:r>
              <a:rPr sz="1200" b="0" i="0">
                <a:solidFill>
                  <a:srgbClr val="1D2433"/>
                </a:solidFill>
                <a:latin typeface="Arial"/>
              </a:rPr>
              <a:t>, metres</a:t>
            </a:r>
          </a:p>
        </p:txBody>
      </p:sp>
      <p:pic>
        <p:nvPicPr>
          <p:cNvPr id="29" name="Picture 28" descr="fig_co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02105"/>
            <a:ext cx="6324600" cy="4110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3 · 3D LOCALISATION ·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Thanigaiarasu Shanmugam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From box to 3D centre</a:t>
            </a:r>
          </a:p>
        </p:txBody>
      </p:sp>
      <p:pic>
        <p:nvPicPr>
          <p:cNvPr id="5" name="Picture 4" descr="fig_3d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26820"/>
            <a:ext cx="1112520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4857750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925" y="485775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497205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1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Tallest histogram bar =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5200650"/>
            <a:ext cx="2486025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keep −5 / +15 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2325" y="4857750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485775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6625" y="497205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2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Front = 5th percentile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5" y="5200650"/>
            <a:ext cx="2486025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robust to noisy pixels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4857750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775" y="485775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5550" y="497205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3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Centre = front +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550" y="5200650"/>
            <a:ext cx="2486025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r = 6.7 cm (cylinder)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0175" y="4857750"/>
            <a:ext cx="2714625" cy="819150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9700" y="4857750"/>
            <a:ext cx="2695575" cy="38100"/>
          </a:xfrm>
          <a:prstGeom prst="rect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475" y="4972050"/>
            <a:ext cx="2486025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4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Back-project box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475" y="5200650"/>
            <a:ext cx="2486025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Menlo"/>
              </a:rPr>
              <a:t>X=(u−cx)Z/f · Y=(v−cy)Z/f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5886450"/>
            <a:ext cx="7774686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5886450"/>
            <a:ext cx="777468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tracking extension: keeps a confirmed real through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≤ 2 rejected frames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(≤ 80 px, chosen on eval)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3 · 3D LOCALISATION ·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Thanigaiarasu Shanmugam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3D estimates over the test recording (final evaluation)</a:t>
            </a:r>
          </a:p>
        </p:txBody>
      </p:sp>
      <p:pic>
        <p:nvPicPr>
          <p:cNvPr id="5" name="Picture 4" descr="fig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50620"/>
            <a:ext cx="1112520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4762500"/>
            <a:ext cx="2667000" cy="1047750"/>
          </a:xfrm>
          <a:prstGeom prst="roundRect">
            <a:avLst>
              <a:gd name="adj" fmla="val 909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4857750"/>
            <a:ext cx="24003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6FB4"/>
                </a:solidFill>
                <a:latin typeface="Arial"/>
              </a:rPr>
              <a:t>0.49 ± 0.05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5257800"/>
            <a:ext cx="24003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ours: height above floor (≈ half object height)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900" y="4762500"/>
            <a:ext cx="2667000" cy="1047750"/>
          </a:xfrm>
          <a:prstGeom prst="roundRect">
            <a:avLst>
              <a:gd name="adj" fmla="val 909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4250" y="4857750"/>
            <a:ext cx="24003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0392B"/>
                </a:solidFill>
                <a:latin typeface="Arial"/>
              </a:rPr>
              <a:t>0.26 ± 0.07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250" y="5257800"/>
            <a:ext cx="24003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baseline: median includes the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4743450"/>
            <a:ext cx="666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t 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7100" y="4743450"/>
            <a:ext cx="2667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ours X, Y, Z (m)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474345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baseline Z (m)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600" y="5029200"/>
            <a:ext cx="53340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419850" y="5029200"/>
            <a:ext cx="666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7100" y="5029200"/>
            <a:ext cx="2667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−0.08, −0.29, 2.51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4600" y="502920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3.83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4600" y="5314950"/>
            <a:ext cx="53340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19850" y="5314950"/>
            <a:ext cx="666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8.1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7100" y="5314950"/>
            <a:ext cx="2667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−0.18, 0.03, 1.36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531495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1.93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24600" y="5600700"/>
            <a:ext cx="53340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19850" y="5600700"/>
            <a:ext cx="666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11.4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7100" y="5600700"/>
            <a:ext cx="26670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−0.17, 0.07, 1.52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600" y="5600700"/>
            <a:ext cx="1428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1.95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24600" y="5886450"/>
            <a:ext cx="53340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33400" y="6000750"/>
            <a:ext cx="111252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B6475"/>
                </a:solidFill>
                <a:latin typeface="Arial"/>
              </a:rPr>
              <a:t>No 3D ground truth: a stable height above the floor is the consistency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EVALUATION ·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Evaluation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1181100"/>
            <a:ext cx="3276600" cy="1047750"/>
          </a:xfrm>
          <a:prstGeom prst="roundRect">
            <a:avLst>
              <a:gd name="adj" fmla="val 909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333500"/>
            <a:ext cx="3276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D2433"/>
                </a:solidFill>
                <a:latin typeface="Arial"/>
              </a:rPr>
              <a:t>Roboflow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38300"/>
            <a:ext cx="3276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2,934 train / 328 val photos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885950"/>
            <a:ext cx="3276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25" b="1" i="0">
                <a:solidFill>
                  <a:srgbClr val="1F6FB4"/>
                </a:solidFill>
                <a:latin typeface="Arial"/>
              </a:rPr>
              <a:t>train YOLO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1704975"/>
            <a:ext cx="495300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4457700" y="1181100"/>
            <a:ext cx="3276600" cy="1047750"/>
          </a:xfrm>
          <a:prstGeom prst="roundRect">
            <a:avLst>
              <a:gd name="adj" fmla="val 909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700" y="1333500"/>
            <a:ext cx="3276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D2433"/>
                </a:solidFill>
                <a:latin typeface="Arial"/>
              </a:rPr>
              <a:t>eval recording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638300"/>
            <a:ext cx="3276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99 frames · 99 real / 160 decoy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1885950"/>
            <a:ext cx="3276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25" b="1" i="0">
                <a:solidFill>
                  <a:srgbClr val="1F6FB4"/>
                </a:solidFill>
                <a:latin typeface="Arial"/>
              </a:rPr>
              <a:t>development: all choices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500" y="1704975"/>
            <a:ext cx="495300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8382000" y="1181100"/>
            <a:ext cx="3276600" cy="1047750"/>
          </a:xfrm>
          <a:prstGeom prst="roundRect">
            <a:avLst>
              <a:gd name="adj" fmla="val 9090"/>
            </a:avLst>
          </a:prstGeom>
          <a:solidFill>
            <a:srgbClr val="1F6FB4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1333500"/>
            <a:ext cx="3276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test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1638300"/>
            <a:ext cx="3276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25" b="0" i="0">
                <a:solidFill>
                  <a:srgbClr val="FFFFFF"/>
                </a:solidFill>
                <a:latin typeface="Arial"/>
              </a:rPr>
              <a:t>67 frames · 45 real / 103 decoy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1885950"/>
            <a:ext cx="3276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25" b="1" i="0">
                <a:solidFill>
                  <a:srgbClr val="FFFFFF"/>
                </a:solidFill>
                <a:latin typeface="Arial"/>
              </a:rPr>
              <a:t>evaluation: locked, run once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2495550"/>
            <a:ext cx="3314700" cy="2286000"/>
          </a:xfrm>
          <a:prstGeom prst="roundRect">
            <a:avLst>
              <a:gd name="adj" fmla="val 416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" y="2628900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75" b="1" i="0">
                <a:solidFill>
                  <a:srgbClr val="1D2433"/>
                </a:solidFill>
                <a:latin typeface="Arial"/>
              </a:rPr>
              <a:t>Match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8650" y="2495550"/>
            <a:ext cx="3314700" cy="2286000"/>
          </a:xfrm>
          <a:prstGeom prst="roundRect">
            <a:avLst>
              <a:gd name="adj" fmla="val 416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0100" y="2628900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75" b="1" i="0">
                <a:solidFill>
                  <a:srgbClr val="1D2433"/>
                </a:solidFill>
                <a:latin typeface="Arial"/>
              </a:rPr>
              <a:t>Metrics (per object, per frame)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2495550"/>
            <a:ext cx="3314700" cy="2286000"/>
          </a:xfrm>
          <a:prstGeom prst="roundRect">
            <a:avLst>
              <a:gd name="adj" fmla="val 416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5350" y="2628900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75" b="1" i="0">
                <a:solidFill>
                  <a:srgbClr val="1D2433"/>
                </a:solidFill>
                <a:latin typeface="Arial"/>
              </a:rPr>
              <a:t>Thresholds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3028950"/>
            <a:ext cx="1238250" cy="1047750"/>
          </a:xfrm>
          <a:prstGeom prst="rect">
            <a:avLst/>
          </a:prstGeom>
          <a:solidFill>
            <a:srgbClr val="FFFFFF"/>
          </a:solidFill>
          <a:ln w="23812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3450" y="3181350"/>
            <a:ext cx="914400" cy="742950"/>
          </a:xfrm>
          <a:prstGeom prst="rect">
            <a:avLst/>
          </a:prstGeom>
          <a:noFill/>
          <a:ln w="19050">
            <a:solidFill>
              <a:srgbClr val="1F6F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33500" y="3495675"/>
            <a:ext cx="114300" cy="114300"/>
          </a:xfrm>
          <a:prstGeom prst="ellipse">
            <a:avLst/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750" y="4114800"/>
            <a:ext cx="14287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75" b="0" i="0">
                <a:solidFill>
                  <a:srgbClr val="2E9E4F"/>
                </a:solidFill>
                <a:latin typeface="Arial"/>
              </a:rPr>
              <a:t>reference 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2650" y="3238500"/>
            <a:ext cx="16192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detection</a:t>
            </a:r>
          </a:p>
          <a:p>
            <a:pPr algn="l">
              <a:spcAft>
                <a:spcPts val="2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centre inside</a:t>
            </a:r>
          </a:p>
          <a:p>
            <a:pPr algn="l">
              <a:spcAft>
                <a:spcPts val="200"/>
              </a:spcAft>
            </a:pPr>
            <a:r>
              <a:rPr sz="1125" b="1" i="0">
                <a:solidFill>
                  <a:srgbClr val="2E9E4F"/>
                </a:solidFill>
                <a:latin typeface="Arial"/>
              </a:rPr>
              <a:t>→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100" y="2990850"/>
            <a:ext cx="29718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TPR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= real accepted / all real (target ≥ 0.75)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C0392B"/>
                </a:solidFill>
                <a:latin typeface="Arial"/>
              </a:rPr>
              <a:t>FPR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= decoys accepted / all decoys (target ≤ 0.15)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5350" y="2990850"/>
            <a:ext cx="29718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detector conf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≥ 0.10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real if box height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≥ 0.56 m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AND background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≥ 19 %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further than object</a:t>
            </a:r>
          </a:p>
          <a:p>
            <a:pPr algn="l">
              <a:spcAft>
                <a:spcPts val="800"/>
              </a:spcAft>
            </a:pPr>
            <a:r>
              <a:rPr sz="975" b="0" i="0">
                <a:solidFill>
                  <a:srgbClr val="5B6475"/>
                </a:solidFill>
                <a:latin typeface="Arial"/>
              </a:rPr>
              <a:t>fitted on eval (3 time blocks, cross-validated)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" y="5048250"/>
            <a:ext cx="7091934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5048250"/>
            <a:ext cx="709193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Reference labels: YOLO proposals reviewed frame by frame (</a:t>
            </a:r>
            <a:r>
              <a:rPr sz="1200" b="1" i="0">
                <a:solidFill>
                  <a:srgbClr val="1F6FB4"/>
                </a:solidFill>
                <a:latin typeface="Arial"/>
              </a:rPr>
              <a:t>AI-assisted</a:t>
            </a:r>
            <a:r>
              <a:rPr sz="1200" b="0" i="0">
                <a:solidFill>
                  <a:srgbClr val="1D2433"/>
                </a:solidFill>
                <a:latin typeface="Arial"/>
              </a:rPr>
              <a:t>) + team spot-check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400" y="5448300"/>
            <a:ext cx="3986022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400" y="5448300"/>
            <a:ext cx="398602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Same data and same rules for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baseline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and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final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EVALUATION ·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Baseline vs final (test, same data)</a:t>
            </a:r>
          </a:p>
        </p:txBody>
      </p:sp>
      <p:pic>
        <p:nvPicPr>
          <p:cNvPr id="4" name="Picture 3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65250"/>
            <a:ext cx="5715000" cy="355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4150" y="12573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12573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573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0" y="12573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+ tracking*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38900" y="16002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534150" y="16002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Real: accepted / missed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0" y="16002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45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6002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43 /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0" y="16002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45 / 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38900" y="19431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534150" y="19431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Decoys accepted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19431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62 / 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9431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0 / 103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0" y="19431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0 / 103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38900" y="22860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534150" y="22860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TPR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0" y="22860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2860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0.96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0" y="22860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1.00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38900" y="26289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34150" y="26289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Decoy FPR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0" y="26289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0.60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6289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0" y="26289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0.00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38900" y="29718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534150" y="29718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Background accepted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0" y="29718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9718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8000" y="29718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38900" y="33147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534150" y="33147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Height above floor (m)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0" y="33147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Arial"/>
              </a:rPr>
              <a:t>0.26 ± 0.07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3147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0.49 ± 0.05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8000" y="33147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0.48 ± 0.06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38900" y="36576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534150" y="3657600"/>
            <a:ext cx="18478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Speed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0" y="3657600"/>
            <a:ext cx="8382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657600"/>
            <a:ext cx="8763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≈ 66 FPS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0" y="3657600"/>
            <a:ext cx="8953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F6FB4"/>
                </a:solidFill>
                <a:latin typeface="Arial"/>
              </a:rPr>
              <a:t>≈ 66 FPS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38900" y="4000500"/>
            <a:ext cx="52197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533400" y="5391150"/>
            <a:ext cx="3882390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3400" y="5391150"/>
            <a:ext cx="388239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Baseline = same YOLO,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accept all</a:t>
            </a:r>
            <a:r>
              <a:rPr sz="1200" b="0" i="0">
                <a:solidFill>
                  <a:srgbClr val="1D2433"/>
                </a:solidFill>
                <a:latin typeface="Arial"/>
              </a:rPr>
              <a:t>, median depth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11040" y="5391150"/>
            <a:ext cx="295579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1040" y="5391150"/>
            <a:ext cx="29557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Trade-off: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−2 real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for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−62 decoys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62088" y="5391150"/>
            <a:ext cx="1504950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62088" y="5391150"/>
            <a:ext cx="150495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Both targets met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3400" y="5791200"/>
            <a:ext cx="4400550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400" y="5791200"/>
            <a:ext cx="440055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* extension: settings chosen on eval (80 px, 2 frames)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EVALUATION ·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Visual evidence (test)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1143000"/>
            <a:ext cx="2667000" cy="3429000"/>
          </a:xfrm>
          <a:prstGeom prst="roundRect">
            <a:avLst>
              <a:gd name="adj" fmla="val 2857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2472"/>
            <a:ext cx="2590800" cy="3050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667250"/>
            <a:ext cx="2667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9E4F"/>
                </a:solidFill>
                <a:latin typeface="Arial"/>
              </a:rPr>
              <a:t>✔ Real accepted + 3D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914900"/>
            <a:ext cx="266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with its position in metres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1850" y="1143000"/>
            <a:ext cx="2667000" cy="3429000"/>
          </a:xfrm>
          <a:prstGeom prst="roundRect">
            <a:avLst>
              <a:gd name="adj" fmla="val 2857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_decoys_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1644011"/>
            <a:ext cx="2590800" cy="2426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71850" y="4667250"/>
            <a:ext cx="2667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9E4F"/>
                </a:solidFill>
                <a:latin typeface="Arial"/>
              </a:rPr>
              <a:t>✔ Decoys 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4914900"/>
            <a:ext cx="266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prints on blocks: no free space around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1143000"/>
            <a:ext cx="2667000" cy="3429000"/>
          </a:xfrm>
          <a:prstGeom prst="roundRect">
            <a:avLst>
              <a:gd name="adj" fmla="val 2857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0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332130"/>
            <a:ext cx="2590800" cy="30507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0300" y="4667250"/>
            <a:ext cx="2667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0392B"/>
                </a:solidFill>
                <a:latin typeface="Arial"/>
              </a:rPr>
              <a:t>✘ Real missed by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4914900"/>
            <a:ext cx="266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camera turning: depth 28 ms older → box sees floor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8750" y="1143000"/>
            <a:ext cx="2667000" cy="3429000"/>
          </a:xfrm>
          <a:prstGeom prst="roundRect">
            <a:avLst>
              <a:gd name="adj" fmla="val 2857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10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0" y="1330779"/>
            <a:ext cx="2590800" cy="30534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48750" y="4667250"/>
            <a:ext cx="2667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6FB4"/>
                </a:solidFill>
                <a:latin typeface="Arial"/>
              </a:rPr>
              <a:t>✔ Same frame + tracking*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0" y="4914900"/>
            <a:ext cx="2667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seen as real in earlier frames → kept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467350"/>
            <a:ext cx="3217926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5467350"/>
            <a:ext cx="321792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Decoy accepted as real: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none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(0 / 103)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6576" y="5467350"/>
            <a:ext cx="6686550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6576" y="5467350"/>
            <a:ext cx="668655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Filter misses: 2 (same turning moment, one old depth frame) → both kept by tracking*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5867400"/>
            <a:ext cx="358063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5867400"/>
            <a:ext cx="358063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Tracking adds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no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decoys or background boxes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Final result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1181100"/>
            <a:ext cx="2714625" cy="1066800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276350"/>
            <a:ext cx="24479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6FB4"/>
                </a:solidFill>
                <a:latin typeface="Arial"/>
              </a:rPr>
              <a:t>0.96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676400"/>
            <a:ext cx="2447925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TPR, final system (target ≥ 0.75)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2325" y="1181100"/>
            <a:ext cx="2714625" cy="1066800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5675" y="1276350"/>
            <a:ext cx="24479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E9E4F"/>
                </a:solidFill>
                <a:latin typeface="Arial"/>
              </a:rPr>
              <a:t>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5675" y="1676400"/>
            <a:ext cx="2447925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decoy FPR: 0 of 103 accepted (target ≤ 0.15)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250" y="1181100"/>
            <a:ext cx="2714625" cy="1066800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0" y="1276350"/>
            <a:ext cx="24479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6FB4"/>
                </a:solidFill>
                <a:latin typeface="Arial"/>
              </a:rPr>
              <a:t>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1676400"/>
            <a:ext cx="2447925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TPR with the tracking extension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0175" y="1181100"/>
            <a:ext cx="2714625" cy="1066800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525" y="1276350"/>
            <a:ext cx="24479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D2433"/>
                </a:solidFill>
                <a:latin typeface="Arial"/>
              </a:rPr>
              <a:t>≈ 66 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525" y="1676400"/>
            <a:ext cx="2447925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15.2 ms per frame, all stages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2495550"/>
            <a:ext cx="5467350" cy="247650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2647950"/>
            <a:ext cx="50863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9E4F"/>
                </a:solidFill>
                <a:latin typeface="Arial"/>
              </a:rPr>
              <a:t>What worked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028950"/>
            <a:ext cx="50863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Simple depth cues remove every printed decoy</a:t>
            </a:r>
          </a:p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3D centre from the object pixels, not the box median</a:t>
            </a:r>
          </a:p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Every choice made on eval; test run once at the end</a:t>
            </a:r>
          </a:p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Tracking recovers the 2 misses without adding decoys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50" y="2495550"/>
            <a:ext cx="5467350" cy="247650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1750" y="2647950"/>
            <a:ext cx="50863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3028950"/>
            <a:ext cx="50863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Small test set: 67 frames, one real extinguisher</a:t>
            </a:r>
          </a:p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Fast camera turns: colour/depth time gap → 2 misses</a:t>
            </a:r>
          </a:p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No 3D ground truth: checked by stable height only</a:t>
            </a:r>
          </a:p>
          <a:p>
            <a:pPr algn="l" marL="152400" indent="-152400">
              <a:spcAft>
                <a:spcPts val="1000"/>
              </a:spcAft>
              <a:buChar char="•"/>
            </a:pPr>
            <a:r>
              <a:rPr sz="1350" b="0" i="0">
                <a:solidFill>
                  <a:srgbClr val="1D2433"/>
                </a:solidFill>
                <a:latin typeface="Arial"/>
              </a:rPr>
              <a:t>Thresholds fitted in one room; new scenes may need a refit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5429250"/>
            <a:ext cx="111252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2 · REAL VS DECOY ·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Shravani Kuchi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Two depth cues from the detector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1143000"/>
            <a:ext cx="3810000" cy="314325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07" y="1257300"/>
            <a:ext cx="2627586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900" y="3295650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F6FB4"/>
                </a:solidFill>
                <a:latin typeface="Arial"/>
              </a:rPr>
              <a:t>▢ Outer ring (+50 % box pad): </a:t>
            </a:r>
            <a:r>
              <a:rPr sz="1050" b="0" i="0">
                <a:solidFill>
                  <a:srgbClr val="1D2433"/>
                </a:solidFill>
                <a:latin typeface="Arial"/>
              </a:rPr>
              <a:t>median valid depth</a:t>
            </a:r>
          </a:p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D2433"/>
                </a:solidFill>
                <a:latin typeface="Arial"/>
              </a:rPr>
              <a:t>▢ Detector box: </a:t>
            </a:r>
            <a:r>
              <a:rPr sz="1050" b="0" i="0">
                <a:solidFill>
                  <a:srgbClr val="1D2433"/>
                </a:solidFill>
                <a:latin typeface="Arial"/>
              </a:rPr>
              <a:t>depth frame within 50 ms</a:t>
            </a:r>
          </a:p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2E9E4F"/>
                </a:solidFill>
                <a:latin typeface="Arial"/>
              </a:rPr>
              <a:t>◎ Central half: </a:t>
            </a:r>
            <a:r>
              <a:rPr sz="1050" b="0" i="0">
                <a:solidFill>
                  <a:srgbClr val="1D2433"/>
                </a:solidFill>
                <a:latin typeface="Arial"/>
              </a:rPr>
              <a:t>25th percentile of valid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43000"/>
            <a:ext cx="7086600" cy="1476375"/>
          </a:xfrm>
          <a:prstGeom prst="roundRect">
            <a:avLst>
              <a:gd name="adj" fmla="val 6451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2500" y="12763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6FB4"/>
                </a:solidFill>
                <a:latin typeface="Arial"/>
              </a:rPr>
              <a:t>1  </a:t>
            </a:r>
            <a:r>
              <a:rPr sz="1350" b="1" i="0">
                <a:solidFill>
                  <a:srgbClr val="1D2433"/>
                </a:solidFill>
                <a:latin typeface="Arial"/>
              </a:rPr>
              <a:t>Projected box height (m)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562100"/>
            <a:ext cx="2141510" cy="590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0" y="22479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Metric height represented by the detection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809875"/>
            <a:ext cx="7086600" cy="1476375"/>
          </a:xfrm>
          <a:prstGeom prst="roundRect">
            <a:avLst>
              <a:gd name="adj" fmla="val 6451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943225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6FB4"/>
                </a:solidFill>
                <a:latin typeface="Arial"/>
              </a:rPr>
              <a:t>2  </a:t>
            </a:r>
            <a:r>
              <a:rPr sz="1350" b="1" i="0">
                <a:solidFill>
                  <a:srgbClr val="1D2433"/>
                </a:solidFill>
                <a:latin typeface="Arial"/>
              </a:rPr>
              <a:t>Relative depth contrast</a:t>
            </a:r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3228975"/>
            <a:ext cx="2651408" cy="590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0" y="3914775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Compares the ring depth with the central estimate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4514850"/>
            <a:ext cx="11125200" cy="990600"/>
          </a:xfrm>
          <a:prstGeom prst="roundRect">
            <a:avLst>
              <a:gd name="adj" fmla="val 9615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4686300"/>
            <a:ext cx="723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75" b="1" i="0">
                <a:solidFill>
                  <a:srgbClr val="8FB8E8"/>
                </a:solidFill>
                <a:latin typeface="Arial"/>
              </a:rPr>
              <a:t>SAVED RULE (FINAL FIT ON EVAL 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933950"/>
            <a:ext cx="723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height ≥ 0.5554 m   AND   contrast ≥ 0.1922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0" y="4705350"/>
            <a:ext cx="285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650" b="1" i="0">
                <a:solidFill>
                  <a:srgbClr val="5BD37E"/>
                </a:solidFill>
                <a:latin typeface="Arial"/>
              </a:rPr>
              <a:t>REAL if both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50482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C9D1DE"/>
                </a:solidFill>
                <a:latin typeface="Arial"/>
              </a:rPr>
              <a:t>Both cues must be 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5715000"/>
            <a:ext cx="5397246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5715000"/>
            <a:ext cx="539724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A printed decoy is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small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in metres and sits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flat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on its background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2 · REAL VS DECOY ·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Shravani Kuchi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Threshold selection on eval, checked on held-out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1104900"/>
            <a:ext cx="2571750" cy="762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925" y="1104900"/>
            <a:ext cx="2552700" cy="381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1200150"/>
            <a:ext cx="2343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871E"/>
                </a:solidFill>
                <a:latin typeface="Arial"/>
              </a:rPr>
              <a:t>01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Reference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447800"/>
            <a:ext cx="23431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box centre inside a reference 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43250" y="1485900"/>
            <a:ext cx="180975" cy="0"/>
          </a:xfrm>
          <a:prstGeom prst="line">
            <a:avLst/>
          </a:prstGeom>
          <a:ln w="14287">
            <a:solidFill>
              <a:srgbClr val="5B6475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3362325" y="1104900"/>
            <a:ext cx="2571750" cy="762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1850" y="1104900"/>
            <a:ext cx="2552700" cy="381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6625" y="1200150"/>
            <a:ext cx="2343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871E"/>
                </a:solidFill>
                <a:latin typeface="Arial"/>
              </a:rPr>
              <a:t>02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Three time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5" y="1447800"/>
            <a:ext cx="23431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fit on two, check the held-out one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72175" y="1485900"/>
            <a:ext cx="180975" cy="0"/>
          </a:xfrm>
          <a:prstGeom prst="line">
            <a:avLst/>
          </a:prstGeom>
          <a:ln w="14287">
            <a:solidFill>
              <a:srgbClr val="5B6475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6191250" y="1104900"/>
            <a:ext cx="2571750" cy="762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0775" y="1104900"/>
            <a:ext cx="2552700" cy="381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550" y="1200150"/>
            <a:ext cx="2343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871E"/>
                </a:solidFill>
                <a:latin typeface="Arial"/>
              </a:rPr>
              <a:t>03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Threshold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5550" y="1447800"/>
            <a:ext cx="23431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real TPR ≥ 0.75, then fewest decoys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01100" y="1485900"/>
            <a:ext cx="180975" cy="0"/>
          </a:xfrm>
          <a:prstGeom prst="line">
            <a:avLst/>
          </a:prstGeom>
          <a:ln w="14287">
            <a:solidFill>
              <a:srgbClr val="5B6475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9020175" y="1104900"/>
            <a:ext cx="2571750" cy="762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9700" y="1104900"/>
            <a:ext cx="2552700" cy="3810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475" y="1200150"/>
            <a:ext cx="2343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871E"/>
                </a:solidFill>
                <a:latin typeface="Arial"/>
              </a:rPr>
              <a:t>04 </a:t>
            </a:r>
            <a:r>
              <a:rPr sz="1200" b="1" i="0">
                <a:solidFill>
                  <a:srgbClr val="1D2433"/>
                </a:solidFill>
                <a:latin typeface="Arial"/>
              </a:rPr>
              <a:t>Final eval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475" y="1447800"/>
            <a:ext cx="23431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fit on all eval, save for test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33400" y="2038350"/>
          <a:ext cx="6096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896100" y="20383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2433"/>
                </a:solidFill>
                <a:latin typeface="Arial"/>
              </a:rPr>
              <a:t>Held-out check (eval)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100" y="2286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Cutoffs fitted on two blocks, applied to the third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1350" y="2533650"/>
            <a:ext cx="8572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9100" y="253365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Real accepted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6475" y="253365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B6475"/>
                </a:solidFill>
                <a:latin typeface="Arial"/>
              </a:rPr>
              <a:t>Decoys accepted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96100" y="2819400"/>
            <a:ext cx="47625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991350" y="2819400"/>
            <a:ext cx="8572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9100" y="281940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31 / 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6475" y="281940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0 / 53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96100" y="3105150"/>
            <a:ext cx="47625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991350" y="3105150"/>
            <a:ext cx="8572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9100" y="310515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33 / 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6475" y="310515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1 / 55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96100" y="3390900"/>
            <a:ext cx="47625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991350" y="3390900"/>
            <a:ext cx="8572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9100" y="339090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33 / 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6475" y="339090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1 / 52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96100" y="3676650"/>
            <a:ext cx="47625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991350" y="3676650"/>
            <a:ext cx="8572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9100" y="367665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97 / 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6475" y="3676650"/>
            <a:ext cx="1666875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6FB4"/>
                </a:solidFill>
                <a:latin typeface="Arial"/>
              </a:rPr>
              <a:t>2 / 160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96100" y="3962400"/>
            <a:ext cx="4762500" cy="0"/>
          </a:xfrm>
          <a:prstGeom prst="line">
            <a:avLst/>
          </a:prstGeom>
          <a:ln w="9525">
            <a:solidFill>
              <a:srgbClr val="E3E6EB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6896100" y="4114800"/>
            <a:ext cx="2343150" cy="1066800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29450" y="421005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6475"/>
                </a:solidFill>
                <a:latin typeface="Arial"/>
              </a:rPr>
              <a:t>Accept-all 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29450" y="441960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50" b="1" i="0">
                <a:solidFill>
                  <a:srgbClr val="C0392B"/>
                </a:solidFill>
                <a:latin typeface="Arial"/>
              </a:rPr>
              <a:t>93 / 160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29450" y="4819650"/>
            <a:ext cx="2095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75" b="0" i="0">
                <a:solidFill>
                  <a:srgbClr val="5B6475"/>
                </a:solidFill>
                <a:latin typeface="Arial"/>
              </a:rPr>
              <a:t>decoys · TPR 1.00 · FPR 0.58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15450" y="4114800"/>
            <a:ext cx="2343150" cy="1066800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48800" y="421005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6475"/>
                </a:solidFill>
                <a:latin typeface="Arial"/>
              </a:rPr>
              <a:t>Held-out filter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8800" y="441960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50" b="1" i="0">
                <a:solidFill>
                  <a:srgbClr val="1F6FB4"/>
                </a:solidFill>
                <a:latin typeface="Arial"/>
              </a:rPr>
              <a:t>2 / 160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8800" y="4819650"/>
            <a:ext cx="2095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75" b="0" i="0">
                <a:solidFill>
                  <a:srgbClr val="5B6475"/>
                </a:solidFill>
                <a:latin typeface="Arial"/>
              </a:rPr>
              <a:t>decoys · TPR 0.98 · FPR 0.013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6100" y="5334000"/>
            <a:ext cx="476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D2433"/>
                </a:solidFill>
                <a:latin typeface="Arial"/>
              </a:rPr>
              <a:t>Why did two decoys pass? </a:t>
            </a:r>
            <a:r>
              <a:rPr sz="1050" b="0" i="0">
                <a:solidFill>
                  <a:srgbClr val="5B6475"/>
                </a:solidFill>
                <a:latin typeface="Arial"/>
              </a:rPr>
              <a:t>Each held-out block uses cutoffs fitted on the other two. The final fit on all eval data rejects both.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810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25" b="1" i="0">
                <a:solidFill>
                  <a:srgbClr val="C0392B"/>
                </a:solidFill>
                <a:latin typeface="Arial"/>
              </a:rPr>
              <a:t>TASK 2 · REAL VS DECOY ·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6100" y="3810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Shravani Kuchi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112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50" b="1" i="0">
                <a:solidFill>
                  <a:srgbClr val="1D2433"/>
                </a:solidFill>
                <a:latin typeface="Arial"/>
              </a:rPr>
              <a:t>Test examples and boundary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1143000"/>
            <a:ext cx="3562350" cy="3714750"/>
          </a:xfrm>
          <a:prstGeom prst="roundRect">
            <a:avLst>
              <a:gd name="adj" fmla="val 2139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33" y="1181100"/>
            <a:ext cx="3090683" cy="3638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953000"/>
            <a:ext cx="3562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9E4F"/>
                </a:solidFill>
                <a:latin typeface="Arial"/>
              </a:rPr>
              <a:t>✔ Accepted real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5200650"/>
            <a:ext cx="35623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both cues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4825" y="1143000"/>
            <a:ext cx="3562350" cy="3714750"/>
          </a:xfrm>
          <a:prstGeom prst="roundRect">
            <a:avLst>
              <a:gd name="adj" fmla="val 2139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1367518"/>
            <a:ext cx="3486150" cy="32657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14825" y="4953000"/>
            <a:ext cx="3562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9E4F"/>
                </a:solidFill>
                <a:latin typeface="Arial"/>
              </a:rPr>
              <a:t>✔ Rejected printed decoys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4825" y="5200650"/>
            <a:ext cx="35623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small and flat against the blocks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6250" y="1143000"/>
            <a:ext cx="3562350" cy="3714750"/>
          </a:xfrm>
          <a:prstGeom prst="roundRect">
            <a:avLst>
              <a:gd name="adj" fmla="val 2139"/>
            </a:avLst>
          </a:prstGeom>
          <a:solidFill>
            <a:srgbClr val="1D2433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430" y="1181100"/>
            <a:ext cx="3089990" cy="3638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0" y="4953000"/>
            <a:ext cx="35623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0392B"/>
                </a:solidFill>
                <a:latin typeface="Arial"/>
              </a:rPr>
              <a:t>✘ Real object 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0" y="5200650"/>
            <a:ext cx="35623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5" b="0" i="0">
                <a:solidFill>
                  <a:srgbClr val="5B6475"/>
                </a:solidFill>
                <a:latin typeface="Arial"/>
              </a:rPr>
              <a:t>height 0.955 m, contrast 0.098 &lt; 0.192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695950"/>
            <a:ext cx="3885438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5695950"/>
            <a:ext cx="388543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Test: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2 real missed</a:t>
            </a:r>
            <a:r>
              <a:rPr sz="1200" b="0" i="0">
                <a:solidFill>
                  <a:srgbClr val="1D2433"/>
                </a:solidFill>
                <a:latin typeface="Arial"/>
              </a:rPr>
              <a:t>, </a:t>
            </a:r>
            <a:r>
              <a:rPr sz="1200" b="1" i="0">
                <a:solidFill>
                  <a:srgbClr val="2E9E4F"/>
                </a:solidFill>
                <a:latin typeface="Arial"/>
              </a:rPr>
              <a:t>0 / 103 decoys</a:t>
            </a:r>
            <a:r>
              <a:rPr sz="1200" b="0" i="0">
                <a:solidFill>
                  <a:srgbClr val="1D2433"/>
                </a:solidFill>
                <a:latin typeface="Arial"/>
              </a:rPr>
              <a:t> accepted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4088" y="5695950"/>
            <a:ext cx="4568190" cy="3048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4088" y="5695950"/>
            <a:ext cx="456819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D2433"/>
                </a:solidFill>
                <a:latin typeface="Arial"/>
              </a:rPr>
              <a:t>Mixed or missing depth near a box can change </a:t>
            </a:r>
            <a:r>
              <a:rPr sz="1200" b="1" i="0">
                <a:solidFill>
                  <a:srgbClr val="1F6FB4"/>
                </a:solidFill>
                <a:latin typeface="Arial"/>
              </a:rPr>
              <a:t>either cue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