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428750"/>
            <a:ext cx="111252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Arial"/>
              </a:rPr>
              <a:t>R7020E · OBJECT DETECTION AND LOCALIZATION · GROUP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1733550"/>
            <a:ext cx="111252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750" b="1" i="0">
                <a:solidFill>
                  <a:srgbClr val="1D2433"/>
                </a:solidFill>
                <a:latin typeface="Arial"/>
              </a:rPr>
              <a:t>Fire extinguisher detection,</a:t>
            </a:r>
          </a:p>
          <a:p>
            <a:pPr algn="l">
              <a:spcAft>
                <a:spcPts val="0"/>
              </a:spcAft>
            </a:pPr>
            <a:r>
              <a:rPr sz="3750" b="1" i="0">
                <a:solidFill>
                  <a:srgbClr val="1D2433"/>
                </a:solidFill>
                <a:latin typeface="Arial"/>
              </a:rPr>
              <a:t>decoy rejection and 3D localization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3105150"/>
            <a:ext cx="11125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0" i="0">
                <a:solidFill>
                  <a:srgbClr val="5B6475"/>
                </a:solidFill>
                <a:latin typeface="Arial"/>
              </a:rPr>
              <a:t>RGB-D camera · YOLO detector · depth-based real/decoy filter · 3D position in metres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3400" y="4000500"/>
            <a:ext cx="3562350" cy="1428750"/>
          </a:xfrm>
          <a:prstGeom prst="roundRect">
            <a:avLst>
              <a:gd name="adj" fmla="val 6666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2925" y="4000500"/>
            <a:ext cx="3543300" cy="47625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850" y="4191000"/>
            <a:ext cx="3238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6FB4"/>
                </a:solidFill>
                <a:latin typeface="Arial"/>
              </a:rPr>
              <a:t>TASK 1 ·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850" y="4457700"/>
            <a:ext cx="3238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 i="0">
                <a:solidFill>
                  <a:srgbClr val="1D2433"/>
                </a:solidFill>
                <a:latin typeface="Arial"/>
              </a:rPr>
              <a:t>Kelechi Athanesious Ezekwe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850" y="4819650"/>
            <a:ext cx="3238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475"/>
                </a:solidFill>
                <a:latin typeface="Arial"/>
              </a:rPr>
              <a:t>YOLO11n detector, trained on Roboflow photos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4825" y="4000500"/>
            <a:ext cx="3562350" cy="1428750"/>
          </a:xfrm>
          <a:prstGeom prst="roundRect">
            <a:avLst>
              <a:gd name="adj" fmla="val 6666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4350" y="4000500"/>
            <a:ext cx="3543300" cy="47625"/>
          </a:xfrm>
          <a:prstGeom prst="rect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6275" y="4191000"/>
            <a:ext cx="3238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871E"/>
                </a:solidFill>
                <a:latin typeface="Arial"/>
              </a:rPr>
              <a:t>TASK 2 · REAL VS DECOY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6275" y="4457700"/>
            <a:ext cx="3238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 i="0">
                <a:solidFill>
                  <a:srgbClr val="1D2433"/>
                </a:solidFill>
                <a:latin typeface="Arial"/>
              </a:rPr>
              <a:t>Shravani Kuchi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6275" y="4819650"/>
            <a:ext cx="3238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475"/>
                </a:solidFill>
                <a:latin typeface="Arial"/>
              </a:rPr>
              <a:t>Depth-based filter that rejects printed decoys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6250" y="4000500"/>
            <a:ext cx="3562350" cy="1428750"/>
          </a:xfrm>
          <a:prstGeom prst="roundRect">
            <a:avLst>
              <a:gd name="adj" fmla="val 6666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5775" y="4000500"/>
            <a:ext cx="3543300" cy="47625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7700" y="4191000"/>
            <a:ext cx="3238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E9E4F"/>
                </a:solidFill>
                <a:latin typeface="Arial"/>
              </a:rPr>
              <a:t>TASK 3 · 3D +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7700" y="4457700"/>
            <a:ext cx="32385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 i="0">
                <a:solidFill>
                  <a:srgbClr val="1D2433"/>
                </a:solidFill>
                <a:latin typeface="Arial"/>
              </a:rPr>
              <a:t>Thanigaiarasu Shanmugam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819650"/>
            <a:ext cx="3238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475"/>
                </a:solidFill>
                <a:latin typeface="Arial"/>
              </a:rPr>
              <a:t>3D centre, tracking, evaluation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5810250"/>
            <a:ext cx="1112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475"/>
                </a:solidFill>
                <a:latin typeface="Arial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Real or printed? A robot must know 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1238250"/>
            <a:ext cx="514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1D2433"/>
                </a:solidFill>
                <a:latin typeface="Arial"/>
              </a:rPr>
              <a:t>Real-world problem: </a:t>
            </a:r>
            <a:r>
              <a:rPr sz="1500" b="0" i="0">
                <a:solidFill>
                  <a:srgbClr val="1D2433"/>
                </a:solidFill>
                <a:latin typeface="Arial"/>
              </a:rPr>
              <a:t>robots must tell real fire extinguishers from printed decoys.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1D2433"/>
                </a:solidFill>
                <a:latin typeface="Arial"/>
              </a:rPr>
              <a:t>Core challenge: </a:t>
            </a:r>
            <a:r>
              <a:rPr sz="1500" b="0" i="0">
                <a:solidFill>
                  <a:srgbClr val="1D2433"/>
                </a:solidFill>
                <a:latin typeface="Arial"/>
              </a:rPr>
              <a:t>in a colour image a printed extinguisher looks just like a real one.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1D2433"/>
                </a:solidFill>
                <a:latin typeface="Arial"/>
              </a:rPr>
              <a:t>Our idea: </a:t>
            </a:r>
            <a:r>
              <a:rPr sz="1500" b="1" i="0">
                <a:solidFill>
                  <a:srgbClr val="1F6FB4"/>
                </a:solidFill>
                <a:latin typeface="Arial"/>
              </a:rPr>
              <a:t>use depth (RGB-D)</a:t>
            </a:r>
            <a:r>
              <a:rPr sz="1500" b="0" i="0">
                <a:solidFill>
                  <a:srgbClr val="1D2433"/>
                </a:solidFill>
                <a:latin typeface="Arial"/>
              </a:rPr>
              <a:t> — a print is flat on a wall or block, a real one stands free in 3D.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3810000"/>
            <a:ext cx="51435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B6475"/>
                </a:solidFill>
                <a:latin typeface="Arial"/>
              </a:rPr>
              <a:t>Why it matters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4095750"/>
            <a:ext cx="2474214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4095750"/>
            <a:ext cx="2474214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Safety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compliance inspection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2864" y="4095750"/>
            <a:ext cx="1739646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2864" y="4095750"/>
            <a:ext cx="1739646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Emergency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4495800"/>
            <a:ext cx="2148078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4495800"/>
            <a:ext cx="2148078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Indoor robot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navigation</a:t>
            </a:r>
          </a:p>
        </p:txBody>
      </p:sp>
      <p:pic>
        <p:nvPicPr>
          <p:cNvPr id="12" name="Picture 11" descr="ev_decoys_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354" y="1238250"/>
            <a:ext cx="4473892" cy="4191000"/>
          </a:xfrm>
          <a:prstGeom prst="rect">
            <a:avLst/>
          </a:prstGeom>
          <a:ln w="9525">
            <a:solidFill>
              <a:srgbClr val="E3E6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096000" y="5524500"/>
            <a:ext cx="5562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B6475"/>
                </a:solidFill>
                <a:latin typeface="Arial"/>
              </a:rPr>
              <a:t>Same scene: one real extinguisher, several printed decoys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One pipeline, three stages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123950"/>
            <a:ext cx="6994800" cy="5448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82000" y="1238250"/>
            <a:ext cx="3276600" cy="1238250"/>
          </a:xfrm>
          <a:prstGeom prst="roundRect">
            <a:avLst>
              <a:gd name="adj" fmla="val 6153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91525" y="1238250"/>
            <a:ext cx="3257550" cy="38100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400" y="1371600"/>
            <a:ext cx="2971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6FB4"/>
                </a:solidFill>
                <a:latin typeface="Arial"/>
              </a:rPr>
              <a:t>1  </a:t>
            </a:r>
            <a:r>
              <a:rPr sz="1500" b="1" i="0">
                <a:solidFill>
                  <a:srgbClr val="1D2433"/>
                </a:solidFill>
                <a:latin typeface="Arial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400" y="1657350"/>
            <a:ext cx="2971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1F6FB4"/>
                </a:solidFill>
                <a:latin typeface="Arial"/>
              </a:rPr>
              <a:t>Kelechi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4400" y="1905000"/>
            <a:ext cx="29718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YOLO11n finds every candidate box (conf ≥ 0.10)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20300" y="2495550"/>
            <a:ext cx="0" cy="247650"/>
          </a:xfrm>
          <a:prstGeom prst="line">
            <a:avLst/>
          </a:prstGeom>
          <a:ln w="19050">
            <a:solidFill>
              <a:srgbClr val="5B6475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8382000" y="2762250"/>
            <a:ext cx="3276600" cy="1238250"/>
          </a:xfrm>
          <a:prstGeom prst="roundRect">
            <a:avLst>
              <a:gd name="adj" fmla="val 6153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1525" y="2762250"/>
            <a:ext cx="3257550" cy="38100"/>
          </a:xfrm>
          <a:prstGeom prst="rect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4400" y="2895600"/>
            <a:ext cx="2971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8871E"/>
                </a:solidFill>
                <a:latin typeface="Arial"/>
              </a:rPr>
              <a:t>2  </a:t>
            </a:r>
            <a:r>
              <a:rPr sz="1500" b="1" i="0">
                <a:solidFill>
                  <a:srgbClr val="1D2433"/>
                </a:solidFill>
                <a:latin typeface="Arial"/>
              </a:rPr>
              <a:t>Real vs decoy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400" y="3181350"/>
            <a:ext cx="2971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E8871E"/>
                </a:solidFill>
                <a:latin typeface="Arial"/>
              </a:rPr>
              <a:t>Shravani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4400" y="3429000"/>
            <a:ext cx="29718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box height ≥ 0.56 m AND background ≥ 19 % further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20300" y="4019550"/>
            <a:ext cx="0" cy="247650"/>
          </a:xfrm>
          <a:prstGeom prst="line">
            <a:avLst/>
          </a:prstGeom>
          <a:ln w="19050">
            <a:solidFill>
              <a:srgbClr val="5B6475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8382000" y="4286250"/>
            <a:ext cx="3276600" cy="1238250"/>
          </a:xfrm>
          <a:prstGeom prst="roundRect">
            <a:avLst>
              <a:gd name="adj" fmla="val 6153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91525" y="4286250"/>
            <a:ext cx="3257550" cy="3810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34400" y="4419600"/>
            <a:ext cx="2971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E9E4F"/>
                </a:solidFill>
                <a:latin typeface="Arial"/>
              </a:rPr>
              <a:t>3  </a:t>
            </a:r>
            <a:r>
              <a:rPr sz="1500" b="1" i="0">
                <a:solidFill>
                  <a:srgbClr val="1D2433"/>
                </a:solidFill>
                <a:latin typeface="Arial"/>
              </a:rPr>
              <a:t>3D + tracking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4400" y="4705350"/>
            <a:ext cx="2971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2E9E4F"/>
                </a:solidFill>
                <a:latin typeface="Arial"/>
              </a:rPr>
              <a:t>Thanigaiarasu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4953000"/>
            <a:ext cx="29718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X, Y, Z of the object centre in metres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82000" y="5886450"/>
            <a:ext cx="2111502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2000" y="5886450"/>
            <a:ext cx="2111502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whole pipeline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≈ 66 FPS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TASK 1 · DETECTION ·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96100" y="3810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Kelechi Athanesious Ezekwe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YOLO11n detector, trained on Roboflow photos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3400" y="1181100"/>
            <a:ext cx="2714625" cy="876300"/>
          </a:xfrm>
          <a:prstGeom prst="roundRect">
            <a:avLst>
              <a:gd name="adj" fmla="val 8695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2925" y="1181100"/>
            <a:ext cx="2695575" cy="38100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1295400"/>
            <a:ext cx="2486025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1 </a:t>
            </a:r>
            <a:r>
              <a:rPr sz="1200" b="1" i="0">
                <a:solidFill>
                  <a:srgbClr val="1D2433"/>
                </a:solidFill>
                <a:latin typeface="Arial"/>
              </a:rPr>
              <a:t>Roboflow photos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524000"/>
            <a:ext cx="2486025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2,934 train / 328 val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1 class, web photos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2325" y="1181100"/>
            <a:ext cx="2714625" cy="876300"/>
          </a:xfrm>
          <a:prstGeom prst="roundRect">
            <a:avLst>
              <a:gd name="adj" fmla="val 8695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1850" y="1181100"/>
            <a:ext cx="2695575" cy="38100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6625" y="1295400"/>
            <a:ext cx="2486025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2 </a:t>
            </a:r>
            <a:r>
              <a:rPr sz="1200" b="1" i="0">
                <a:solidFill>
                  <a:srgbClr val="1D2433"/>
                </a:solidFill>
                <a:latin typeface="Arial"/>
              </a:rPr>
              <a:t>Fine-tune YOLO11n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6625" y="1524000"/>
            <a:ext cx="2486025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pretrained on COCO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100 epochs, patience 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0" y="1181100"/>
            <a:ext cx="2714625" cy="876300"/>
          </a:xfrm>
          <a:prstGeom prst="roundRect">
            <a:avLst>
              <a:gd name="adj" fmla="val 8695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0775" y="1181100"/>
            <a:ext cx="2695575" cy="38100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5550" y="1295400"/>
            <a:ext cx="2486025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3 </a:t>
            </a:r>
            <a:r>
              <a:rPr sz="1200" b="1" i="0">
                <a:solidFill>
                  <a:srgbClr val="1D2433"/>
                </a:solidFill>
                <a:latin typeface="Arial"/>
              </a:rPr>
              <a:t>Default augmentation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5550" y="1524000"/>
            <a:ext cx="2486025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flip, HSV, scale,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translate, mosaic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0175" y="1181100"/>
            <a:ext cx="2714625" cy="876300"/>
          </a:xfrm>
          <a:prstGeom prst="roundRect">
            <a:avLst>
              <a:gd name="adj" fmla="val 8695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29700" y="1181100"/>
            <a:ext cx="2695575" cy="38100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4475" y="1295400"/>
            <a:ext cx="2486025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4 </a:t>
            </a:r>
            <a:r>
              <a:rPr sz="1200" b="1" i="0">
                <a:solidFill>
                  <a:srgbClr val="1D2433"/>
                </a:solidFill>
                <a:latin typeface="Arial"/>
              </a:rPr>
              <a:t>Low threshold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475" y="1524000"/>
            <a:ext cx="2486025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keep boxes with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confidence ≥ 0.10</a:t>
            </a:r>
          </a:p>
        </p:txBody>
      </p:sp>
      <p:pic>
        <p:nvPicPr>
          <p:cNvPr id="21" name="Picture 20" descr="image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506134"/>
            <a:ext cx="8191500" cy="3369732"/>
          </a:xfrm>
          <a:prstGeom prst="rect">
            <a:avLst/>
          </a:prstGeom>
          <a:ln w="9525">
            <a:solidFill>
              <a:srgbClr val="E3E6EB"/>
            </a:solidFill>
          </a:ln>
        </p:spPr>
      </p:pic>
      <p:sp>
        <p:nvSpPr>
          <p:cNvPr id="22" name="Rounded Rectangle 21"/>
          <p:cNvSpPr/>
          <p:nvPr/>
        </p:nvSpPr>
        <p:spPr>
          <a:xfrm>
            <a:off x="8953500" y="2286000"/>
            <a:ext cx="2705100" cy="876300"/>
          </a:xfrm>
          <a:prstGeom prst="roundRect">
            <a:avLst>
              <a:gd name="adj" fmla="val 10869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6850" y="2381250"/>
            <a:ext cx="2438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6FB4"/>
                </a:solidFill>
                <a:latin typeface="Arial"/>
              </a:rPr>
              <a:t>0.93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6850" y="2781300"/>
            <a:ext cx="24384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mAP50 on Roboflow validation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53500" y="3276600"/>
            <a:ext cx="2705100" cy="876300"/>
          </a:xfrm>
          <a:prstGeom prst="roundRect">
            <a:avLst>
              <a:gd name="adj" fmla="val 10869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6850" y="3371850"/>
            <a:ext cx="2438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9E4F"/>
                </a:solidFill>
                <a:latin typeface="Arial"/>
              </a:rPr>
              <a:t>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6850" y="3771900"/>
            <a:ext cx="24384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TPR: every real found (eval and test)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53500" y="4267200"/>
            <a:ext cx="2705100" cy="876300"/>
          </a:xfrm>
          <a:prstGeom prst="roundRect">
            <a:avLst>
              <a:gd name="adj" fmla="val 10869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6850" y="4362450"/>
            <a:ext cx="2438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0392B"/>
                </a:solidFill>
                <a:latin typeface="Arial"/>
              </a:rPr>
              <a:t>0.58 / 0.60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6850" y="4762500"/>
            <a:ext cx="24384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decoys also detected (eval / test)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53500" y="5257800"/>
            <a:ext cx="2705100" cy="838200"/>
          </a:xfrm>
          <a:prstGeom prst="roundRect">
            <a:avLst>
              <a:gd name="adj" fmla="val 11363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86850" y="5353050"/>
            <a:ext cx="24384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D2433"/>
                </a:solidFill>
                <a:latin typeface="Arial"/>
              </a:rPr>
              <a:t>14.6 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6850" y="5753100"/>
            <a:ext cx="2438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per frame for detection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TASK 1 · DETECTION ·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96100" y="3810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Kelechi Athanesious Ezekwe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Detector alone: every real found, but most decoys too</a:t>
            </a:r>
          </a:p>
        </p:txBody>
      </p:sp>
      <p:pic>
        <p:nvPicPr>
          <p:cNvPr id="5" name="Picture 4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520426"/>
            <a:ext cx="6858000" cy="4083848"/>
          </a:xfrm>
          <a:prstGeom prst="rect">
            <a:avLst/>
          </a:prstGeom>
          <a:ln w="9525">
            <a:solidFill>
              <a:srgbClr val="E3E6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0500" y="1333500"/>
            <a:ext cx="12382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0" y="1333500"/>
            <a:ext cx="10668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1333500"/>
            <a:ext cx="10668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test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15250" y="1657350"/>
            <a:ext cx="394335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810500" y="1657350"/>
            <a:ext cx="12382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1D2433"/>
                </a:solidFill>
                <a:latin typeface="Arial"/>
              </a:rPr>
              <a:t>Real detected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9250" y="1657350"/>
            <a:ext cx="10668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75" b="0" i="0">
                <a:solidFill>
                  <a:srgbClr val="2E9E4F"/>
                </a:solidFill>
                <a:latin typeface="Arial"/>
              </a:rPr>
              <a:t>99 / 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96550" y="1657350"/>
            <a:ext cx="10668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75" b="0" i="0">
                <a:solidFill>
                  <a:srgbClr val="2E9E4F"/>
                </a:solidFill>
                <a:latin typeface="Arial"/>
              </a:rPr>
              <a:t>45 / 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15250" y="1981200"/>
            <a:ext cx="394335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7810500" y="1981200"/>
            <a:ext cx="12382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1D2433"/>
                </a:solidFill>
                <a:latin typeface="Arial"/>
              </a:rPr>
              <a:t>Decoys detected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9250" y="1981200"/>
            <a:ext cx="10668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75" b="0" i="0">
                <a:solidFill>
                  <a:srgbClr val="C0392B"/>
                </a:solidFill>
                <a:latin typeface="Arial"/>
              </a:rPr>
              <a:t>93 / 160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96550" y="1981200"/>
            <a:ext cx="10668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75" b="0" i="0">
                <a:solidFill>
                  <a:srgbClr val="C0392B"/>
                </a:solidFill>
                <a:latin typeface="Arial"/>
              </a:rPr>
              <a:t>62 / 103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5250" y="2305050"/>
            <a:ext cx="394335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7810500" y="2305050"/>
            <a:ext cx="123825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1D2433"/>
                </a:solidFill>
                <a:latin typeface="Arial"/>
              </a:rPr>
              <a:t>Decoy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9250" y="2305050"/>
            <a:ext cx="10668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75" b="0" i="0">
                <a:solidFill>
                  <a:srgbClr val="C0392B"/>
                </a:solidFill>
                <a:latin typeface="Arial"/>
              </a:rPr>
              <a:t>0.58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96550" y="2305050"/>
            <a:ext cx="1066800" cy="323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75" b="0" i="0">
                <a:solidFill>
                  <a:srgbClr val="C0392B"/>
                </a:solidFill>
                <a:latin typeface="Arial"/>
              </a:rPr>
              <a:t>0.60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15250" y="2628900"/>
            <a:ext cx="394335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22" name="Rounded Rectangle 21"/>
          <p:cNvSpPr/>
          <p:nvPr/>
        </p:nvSpPr>
        <p:spPr>
          <a:xfrm>
            <a:off x="7715250" y="3048000"/>
            <a:ext cx="3050286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15250" y="3048000"/>
            <a:ext cx="3050286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Printed decoys </a:t>
            </a:r>
            <a:r>
              <a:rPr sz="1200" b="1" i="0">
                <a:solidFill>
                  <a:srgbClr val="C0392B"/>
                </a:solidFill>
                <a:latin typeface="Arial"/>
              </a:rPr>
              <a:t>look real in colour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15250" y="3448050"/>
            <a:ext cx="2330958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15250" y="3448050"/>
            <a:ext cx="2330958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→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Stage 2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must remove them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15250" y="3848100"/>
            <a:ext cx="3483102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15250" y="3848100"/>
            <a:ext cx="3483102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This detector-only result is the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baseline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TASK 1 · DETECTION ·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96100" y="3810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Kelechi Athanesious Ezekwe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Low threshold (0.10) on purpose</a:t>
            </a:r>
          </a:p>
        </p:txBody>
      </p:sp>
      <p:pic>
        <p:nvPicPr>
          <p:cNvPr id="5" name="Picture 4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90" y="1181100"/>
            <a:ext cx="10880820" cy="4476750"/>
          </a:xfrm>
          <a:prstGeom prst="rect">
            <a:avLst/>
          </a:prstGeom>
          <a:ln w="9525">
            <a:solidFill>
              <a:srgbClr val="E3E6E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33400" y="5829300"/>
            <a:ext cx="4882134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5829300"/>
            <a:ext cx="4882134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All detector boxes at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conf ≥ 0.10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(real, decoy, background)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10784" y="5829300"/>
            <a:ext cx="3071622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10784" y="5829300"/>
            <a:ext cx="3071622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A real missed here is </a:t>
            </a:r>
            <a:r>
              <a:rPr sz="1200" b="1" i="0">
                <a:solidFill>
                  <a:srgbClr val="C0392B"/>
                </a:solidFill>
                <a:latin typeface="Arial"/>
              </a:rPr>
              <a:t>lost for good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6229350"/>
            <a:ext cx="3016758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6229350"/>
            <a:ext cx="3016758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Decoys are removed later by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Stage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TASK 2 · REAL VS DECOY ·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96100" y="3810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Shravani Kuchi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Stage 2: Real Objects Accepted</a:t>
            </a:r>
          </a:p>
        </p:txBody>
      </p:sp>
      <p:pic>
        <p:nvPicPr>
          <p:cNvPr id="5" name="Picture 4" descr="image-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663" y="1181100"/>
            <a:ext cx="3802673" cy="4476750"/>
          </a:xfrm>
          <a:prstGeom prst="rect">
            <a:avLst/>
          </a:prstGeom>
          <a:ln w="9525">
            <a:solidFill>
              <a:srgbClr val="E3E6E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33400" y="5829300"/>
            <a:ext cx="3443478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5829300"/>
            <a:ext cx="3443478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9E4F"/>
                </a:solidFill>
                <a:latin typeface="Arial"/>
              </a:rPr>
              <a:t>43/45 real objects accepted (96% TPR)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TASK 2 · REAL VS DECOY ·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96100" y="3810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Shravani Kuchi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Stage 2: Perfect Decoy Rejection</a:t>
            </a:r>
          </a:p>
        </p:txBody>
      </p:sp>
      <p:pic>
        <p:nvPicPr>
          <p:cNvPr id="5" name="Picture 4" descr="ev_decoys_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535" y="1181100"/>
            <a:ext cx="4778931" cy="4476750"/>
          </a:xfrm>
          <a:prstGeom prst="rect">
            <a:avLst/>
          </a:prstGeom>
          <a:ln w="9525">
            <a:solidFill>
              <a:srgbClr val="E3E6E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33400" y="5829300"/>
            <a:ext cx="3102102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5829300"/>
            <a:ext cx="3102102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9E4F"/>
                </a:solidFill>
                <a:latin typeface="Arial"/>
              </a:rPr>
              <a:t>0% FPR - All 103 decoys rejected!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TASK 2 · REAL VS DECOY ·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96100" y="3810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Shravani Kuchi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Stage 2: Edge Cases - Missed Real Objects</a:t>
            </a:r>
          </a:p>
        </p:txBody>
      </p:sp>
      <p:pic>
        <p:nvPicPr>
          <p:cNvPr id="5" name="Picture 4" descr="image-1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420" y="1181100"/>
            <a:ext cx="3478261" cy="4095750"/>
          </a:xfrm>
          <a:prstGeom prst="rect">
            <a:avLst/>
          </a:prstGeom>
          <a:ln w="9525">
            <a:solidFill>
              <a:srgbClr val="E3E6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33400" y="5353050"/>
            <a:ext cx="54483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C0392B"/>
                </a:solidFill>
                <a:latin typeface="Arial"/>
              </a:rPr>
              <a:t>Real Missed (2 objects)</a:t>
            </a:r>
          </a:p>
        </p:txBody>
      </p:sp>
      <p:pic>
        <p:nvPicPr>
          <p:cNvPr id="7" name="Picture 6" descr="image-10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859" y="1181100"/>
            <a:ext cx="3475182" cy="4095750"/>
          </a:xfrm>
          <a:prstGeom prst="rect">
            <a:avLst/>
          </a:prstGeom>
          <a:ln w="9525">
            <a:solidFill>
              <a:srgbClr val="E3E6E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0300" y="5353050"/>
            <a:ext cx="54483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2E9E4F"/>
                </a:solidFill>
                <a:latin typeface="Arial"/>
              </a:rPr>
              <a:t>Rescued by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72150"/>
            <a:ext cx="111252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1">
                <a:solidFill>
                  <a:srgbClr val="5B6475"/>
                </a:solidFill>
                <a:latin typeface="Arial"/>
              </a:rPr>
              <a:t>Root cause: Colour/depth timing mismatch during camera motion</a:t>
            </a:r>
          </a:p>
          <a:p>
            <a:pPr algn="ctr">
              <a:spcAft>
                <a:spcPts val="200"/>
              </a:spcAft>
            </a:pPr>
            <a:r>
              <a:rPr sz="1200" b="0" i="1">
                <a:solidFill>
                  <a:srgbClr val="5B6475"/>
                </a:solidFill>
                <a:latin typeface="Arial"/>
              </a:rPr>
              <a:t>Solution: Stage 3 tracking recovers both!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TASK 3 · 3D LOCALISATION ·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96100" y="3810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Thanigaiarasu Shanmugam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Depth from stereo, position in the camera frame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428750" y="1314450"/>
            <a:ext cx="952500" cy="1543050"/>
          </a:xfrm>
          <a:prstGeom prst="line">
            <a:avLst/>
          </a:prstGeom>
          <a:ln w="19050">
            <a:solidFill>
              <a:srgbClr val="C0392B"/>
            </a:solidFill>
            <a:prstDash val="dash"/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381250" y="1314450"/>
            <a:ext cx="952500" cy="1543050"/>
          </a:xfrm>
          <a:prstGeom prst="line">
            <a:avLst/>
          </a:prstGeom>
          <a:ln w="19050">
            <a:solidFill>
              <a:srgbClr val="C0392B"/>
            </a:solidFill>
            <a:prstDash val="dash"/>
          </a:ln>
        </p:spPr>
      </p:cxnSp>
      <p:sp>
        <p:nvSpPr>
          <p:cNvPr id="7" name="Oval 6"/>
          <p:cNvSpPr/>
          <p:nvPr/>
        </p:nvSpPr>
        <p:spPr>
          <a:xfrm>
            <a:off x="2295525" y="1152525"/>
            <a:ext cx="171450" cy="17145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33650" y="1143000"/>
            <a:ext cx="76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point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838450"/>
            <a:ext cx="762000" cy="342900"/>
          </a:xfrm>
          <a:prstGeom prst="roundRect">
            <a:avLst>
              <a:gd name="adj" fmla="val 11111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838450"/>
            <a:ext cx="762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IR left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2838450"/>
            <a:ext cx="762000" cy="342900"/>
          </a:xfrm>
          <a:prstGeom prst="roundRect">
            <a:avLst>
              <a:gd name="adj" fmla="val 11111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38500" y="2838450"/>
            <a:ext cx="7620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IR right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19250" y="1866900"/>
            <a:ext cx="1524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1D24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19250" y="1866900"/>
            <a:ext cx="1524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 i="0">
                <a:solidFill>
                  <a:srgbClr val="1D2433"/>
                </a:solidFill>
                <a:latin typeface="Menlo"/>
              </a:rPr>
              <a:t>Z = f · B / 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3333750"/>
            <a:ext cx="2476500" cy="0"/>
          </a:xfrm>
          <a:prstGeom prst="line">
            <a:avLst/>
          </a:prstGeom>
          <a:ln w="14287">
            <a:solidFill>
              <a:srgbClr val="1D2433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1714500" y="3371850"/>
            <a:ext cx="1333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B = 0.10 m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286250" y="1143000"/>
            <a:ext cx="0" cy="1714500"/>
          </a:xfrm>
          <a:prstGeom prst="line">
            <a:avLst/>
          </a:prstGeom>
          <a:ln w="14287">
            <a:solidFill>
              <a:srgbClr val="1D2433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4381500" y="1905000"/>
            <a:ext cx="2857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D2433"/>
                </a:solidFill>
                <a:latin typeface="Arial"/>
              </a:rPr>
              <a:t>Z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400" y="3905250"/>
            <a:ext cx="2961894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3905250"/>
            <a:ext cx="2961894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dense disparity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d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per pixel (Lab 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4305300"/>
            <a:ext cx="2193798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4305300"/>
            <a:ext cx="2193798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depth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aligned to colour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4705350"/>
            <a:ext cx="2483358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3400" y="4705350"/>
            <a:ext cx="2483358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colour ↔ depth pairs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≤ 50 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400" y="5105400"/>
            <a:ext cx="2205990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5105400"/>
            <a:ext cx="220599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f ≈ 306 px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(camera_info)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400" y="5505450"/>
            <a:ext cx="3647694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400" y="5505450"/>
            <a:ext cx="3647694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frame: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X right, Y down, Z forward</a:t>
            </a:r>
            <a:r>
              <a:rPr sz="1200" b="0" i="0">
                <a:solidFill>
                  <a:srgbClr val="1D2433"/>
                </a:solidFill>
                <a:latin typeface="Arial"/>
              </a:rPr>
              <a:t>, metres</a:t>
            </a:r>
          </a:p>
        </p:txBody>
      </p:sp>
      <p:pic>
        <p:nvPicPr>
          <p:cNvPr id="29" name="Picture 28" descr="fig_co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1602105"/>
            <a:ext cx="6324600" cy="41109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TASK 3 · 3D LOCALISATION ·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96100" y="3810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Thanigaiarasu Shanmugam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From box to 3D centre</a:t>
            </a:r>
          </a:p>
        </p:txBody>
      </p:sp>
      <p:pic>
        <p:nvPicPr>
          <p:cNvPr id="5" name="Picture 4" descr="fig_3d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226820"/>
            <a:ext cx="11125200" cy="3337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3400" y="4857750"/>
            <a:ext cx="2714625" cy="819150"/>
          </a:xfrm>
          <a:prstGeom prst="roundRect">
            <a:avLst>
              <a:gd name="adj" fmla="val 9302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2925" y="4857750"/>
            <a:ext cx="2695575" cy="38100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4972050"/>
            <a:ext cx="2486025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1 </a:t>
            </a:r>
            <a:r>
              <a:rPr sz="1200" b="1" i="0">
                <a:solidFill>
                  <a:srgbClr val="1D2433"/>
                </a:solidFill>
                <a:latin typeface="Arial"/>
              </a:rPr>
              <a:t>Tallest histogram bar = object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5200650"/>
            <a:ext cx="2486025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keep −5 / +15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2325" y="4857750"/>
            <a:ext cx="2714625" cy="819150"/>
          </a:xfrm>
          <a:prstGeom prst="roundRect">
            <a:avLst>
              <a:gd name="adj" fmla="val 9302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1850" y="4857750"/>
            <a:ext cx="2695575" cy="38100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6625" y="4972050"/>
            <a:ext cx="2486025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2 </a:t>
            </a:r>
            <a:r>
              <a:rPr sz="1200" b="1" i="0">
                <a:solidFill>
                  <a:srgbClr val="1D2433"/>
                </a:solidFill>
                <a:latin typeface="Arial"/>
              </a:rPr>
              <a:t>Front = 5th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6625" y="5200650"/>
            <a:ext cx="2486025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robust to noisy pixels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250" y="4857750"/>
            <a:ext cx="2714625" cy="819150"/>
          </a:xfrm>
          <a:prstGeom prst="roundRect">
            <a:avLst>
              <a:gd name="adj" fmla="val 9302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0775" y="4857750"/>
            <a:ext cx="2695575" cy="38100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5550" y="4972050"/>
            <a:ext cx="2486025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3 </a:t>
            </a:r>
            <a:r>
              <a:rPr sz="1200" b="1" i="0">
                <a:solidFill>
                  <a:srgbClr val="1D2433"/>
                </a:solidFill>
                <a:latin typeface="Arial"/>
              </a:rPr>
              <a:t>Centre = front +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5550" y="5200650"/>
            <a:ext cx="2486025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r = 6.7 cm (cylinder)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0175" y="4857750"/>
            <a:ext cx="2714625" cy="819150"/>
          </a:xfrm>
          <a:prstGeom prst="roundRect">
            <a:avLst>
              <a:gd name="adj" fmla="val 9302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29700" y="4857750"/>
            <a:ext cx="2695575" cy="38100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4475" y="4972050"/>
            <a:ext cx="2486025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4 </a:t>
            </a:r>
            <a:r>
              <a:rPr sz="1200" b="1" i="0">
                <a:solidFill>
                  <a:srgbClr val="1D2433"/>
                </a:solidFill>
                <a:latin typeface="Arial"/>
              </a:rPr>
              <a:t>Back-project box centre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4475" y="5200650"/>
            <a:ext cx="2486025" cy="438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Menlo"/>
              </a:rPr>
              <a:t>X=(u−cx)Z/f · Y=(v−cy)Z/f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886450"/>
            <a:ext cx="7774686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886450"/>
            <a:ext cx="7774686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tracking extension: keeps a confirmed real through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≤ 2 rejected frames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(≤ 80 px, chosen on eval)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TASK 3 · 3D LOCALISATION ·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96100" y="381000"/>
            <a:ext cx="476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Thanigaiarasu Shanmugam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3D estimates over the test recording (final evaluation)</a:t>
            </a:r>
          </a:p>
        </p:txBody>
      </p:sp>
      <p:pic>
        <p:nvPicPr>
          <p:cNvPr id="5" name="Picture 4" descr="fig_h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150620"/>
            <a:ext cx="11125200" cy="3337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3400" y="4762500"/>
            <a:ext cx="2667000" cy="104775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4857750"/>
            <a:ext cx="2400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6FB4"/>
                </a:solidFill>
                <a:latin typeface="Arial"/>
              </a:rPr>
              <a:t>0.49 ± 0.05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5257800"/>
            <a:ext cx="24003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ours: height above floor (≈ half object height)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900" y="4762500"/>
            <a:ext cx="2667000" cy="104775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4250" y="4857750"/>
            <a:ext cx="24003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0392B"/>
                </a:solidFill>
                <a:latin typeface="Arial"/>
              </a:rPr>
              <a:t>0.26 ± 0.07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4250" y="5257800"/>
            <a:ext cx="24003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baseline: median includes the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850" y="4743450"/>
            <a:ext cx="66675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t 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77100" y="4743450"/>
            <a:ext cx="266700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ours X, Y, Z (m)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4743450"/>
            <a:ext cx="142875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baseline Z (m)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24600" y="5029200"/>
            <a:ext cx="53340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419850" y="5029200"/>
            <a:ext cx="66675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7100" y="5029200"/>
            <a:ext cx="266700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F6FB4"/>
                </a:solidFill>
                <a:latin typeface="Arial"/>
              </a:rPr>
              <a:t>−0.08, −0.29, 2.51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34600" y="5029200"/>
            <a:ext cx="142875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C0392B"/>
                </a:solidFill>
                <a:latin typeface="Arial"/>
              </a:rPr>
              <a:t>3.83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24600" y="5314950"/>
            <a:ext cx="53340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419850" y="5314950"/>
            <a:ext cx="66675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8.1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7100" y="5314950"/>
            <a:ext cx="266700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F6FB4"/>
                </a:solidFill>
                <a:latin typeface="Arial"/>
              </a:rPr>
              <a:t>−0.18, 0.03, 1.36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34600" y="5314950"/>
            <a:ext cx="142875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C0392B"/>
                </a:solidFill>
                <a:latin typeface="Arial"/>
              </a:rPr>
              <a:t>1.93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24600" y="5600700"/>
            <a:ext cx="53340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419850" y="5600700"/>
            <a:ext cx="66675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11.4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5600700"/>
            <a:ext cx="266700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F6FB4"/>
                </a:solidFill>
                <a:latin typeface="Arial"/>
              </a:rPr>
              <a:t>−0.17, 0.07, 1.52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34600" y="5600700"/>
            <a:ext cx="1428750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C0392B"/>
                </a:solidFill>
                <a:latin typeface="Arial"/>
              </a:rPr>
              <a:t>1.95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24600" y="5886450"/>
            <a:ext cx="53340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33400" y="6000750"/>
            <a:ext cx="111252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B6475"/>
                </a:solidFill>
                <a:latin typeface="Arial"/>
              </a:rPr>
              <a:t>No 3D ground truth: a stable height above the floor is the consistency check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EVALUATION ·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Evaluation setup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3400" y="1181100"/>
            <a:ext cx="3276600" cy="104775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" y="1333500"/>
            <a:ext cx="32766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D2433"/>
                </a:solidFill>
                <a:latin typeface="Arial"/>
              </a:rPr>
              <a:t>Roboflow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638300"/>
            <a:ext cx="3276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2,934 train / 328 val photos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885950"/>
            <a:ext cx="3276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25" b="1" i="0">
                <a:solidFill>
                  <a:srgbClr val="1F6FB4"/>
                </a:solidFill>
                <a:latin typeface="Arial"/>
              </a:rPr>
              <a:t>train YOLO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86200" y="1704975"/>
            <a:ext cx="495300" cy="0"/>
          </a:xfrm>
          <a:prstGeom prst="line">
            <a:avLst/>
          </a:prstGeom>
          <a:ln w="19050">
            <a:solidFill>
              <a:srgbClr val="5B6475"/>
            </a:solidFill>
            <a:tailEnd type="triangle" w="med" len="med"/>
          </a:ln>
        </p:spPr>
      </p:cxnSp>
      <p:sp>
        <p:nvSpPr>
          <p:cNvPr id="9" name="Rounded Rectangle 8"/>
          <p:cNvSpPr/>
          <p:nvPr/>
        </p:nvSpPr>
        <p:spPr>
          <a:xfrm>
            <a:off x="4457700" y="1181100"/>
            <a:ext cx="3276600" cy="104775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1333500"/>
            <a:ext cx="32766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D2433"/>
                </a:solidFill>
                <a:latin typeface="Arial"/>
              </a:rPr>
              <a:t>eval recording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638300"/>
            <a:ext cx="3276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99 frames · 99 real / 160 decoy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700" y="1885950"/>
            <a:ext cx="3276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25" b="1" i="0">
                <a:solidFill>
                  <a:srgbClr val="1F6FB4"/>
                </a:solidFill>
                <a:latin typeface="Arial"/>
              </a:rPr>
              <a:t>development: all choices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500" y="1704975"/>
            <a:ext cx="495300" cy="0"/>
          </a:xfrm>
          <a:prstGeom prst="line">
            <a:avLst/>
          </a:prstGeom>
          <a:ln w="19050">
            <a:solidFill>
              <a:srgbClr val="5B6475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8382000" y="1181100"/>
            <a:ext cx="3276600" cy="1047750"/>
          </a:xfrm>
          <a:prstGeom prst="roundRect">
            <a:avLst>
              <a:gd name="adj" fmla="val 9090"/>
            </a:avLst>
          </a:prstGeom>
          <a:solidFill>
            <a:srgbClr val="1F6FB4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0" y="1333500"/>
            <a:ext cx="32766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test recording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638300"/>
            <a:ext cx="3276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25" b="0" i="0">
                <a:solidFill>
                  <a:srgbClr val="FFFFFF"/>
                </a:solidFill>
                <a:latin typeface="Arial"/>
              </a:rPr>
              <a:t>67 frames · 45 real / 103 decoy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1885950"/>
            <a:ext cx="327660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evaluation: locked, run once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400" y="2495550"/>
            <a:ext cx="3314700" cy="2286000"/>
          </a:xfrm>
          <a:prstGeom prst="roundRect">
            <a:avLst>
              <a:gd name="adj" fmla="val 4166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2628900"/>
            <a:ext cx="2971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75" b="1" i="0">
                <a:solidFill>
                  <a:srgbClr val="1D2433"/>
                </a:solidFill>
                <a:latin typeface="Arial"/>
              </a:rPr>
              <a:t>Match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8650" y="2495550"/>
            <a:ext cx="3314700" cy="2286000"/>
          </a:xfrm>
          <a:prstGeom prst="roundRect">
            <a:avLst>
              <a:gd name="adj" fmla="val 4166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0100" y="2628900"/>
            <a:ext cx="2971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75" b="1" i="0">
                <a:solidFill>
                  <a:srgbClr val="1D2433"/>
                </a:solidFill>
                <a:latin typeface="Arial"/>
              </a:rPr>
              <a:t>Metrics (per object, per frame)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2495550"/>
            <a:ext cx="3314700" cy="2286000"/>
          </a:xfrm>
          <a:prstGeom prst="roundRect">
            <a:avLst>
              <a:gd name="adj" fmla="val 4166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5350" y="2628900"/>
            <a:ext cx="2971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75" b="1" i="0">
                <a:solidFill>
                  <a:srgbClr val="1D2433"/>
                </a:solidFill>
                <a:latin typeface="Arial"/>
              </a:rPr>
              <a:t>Thresholds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3028950"/>
            <a:ext cx="1238250" cy="1047750"/>
          </a:xfrm>
          <a:prstGeom prst="rect">
            <a:avLst/>
          </a:prstGeom>
          <a:solidFill>
            <a:srgbClr val="FFFFFF"/>
          </a:solidFill>
          <a:ln w="23812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3450" y="3181350"/>
            <a:ext cx="914400" cy="742950"/>
          </a:xfrm>
          <a:prstGeom prst="rect">
            <a:avLst/>
          </a:prstGeom>
          <a:noFill/>
          <a:ln w="19050">
            <a:solidFill>
              <a:srgbClr val="1F6FB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33500" y="3495675"/>
            <a:ext cx="114300" cy="114300"/>
          </a:xfrm>
          <a:prstGeom prst="ellipse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" y="4114800"/>
            <a:ext cx="14287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75" b="0" i="0">
                <a:solidFill>
                  <a:srgbClr val="2E9E4F"/>
                </a:solidFill>
                <a:latin typeface="Arial"/>
              </a:rPr>
              <a:t>reference 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2650" y="3238500"/>
            <a:ext cx="161925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detection</a:t>
            </a:r>
          </a:p>
          <a:p>
            <a:pPr algn="l">
              <a:spcAft>
                <a:spcPts val="20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centre inside</a:t>
            </a:r>
          </a:p>
          <a:p>
            <a:pPr algn="l">
              <a:spcAft>
                <a:spcPts val="200"/>
              </a:spcAft>
            </a:pPr>
            <a:r>
              <a:rPr sz="1125" b="1" i="0">
                <a:solidFill>
                  <a:srgbClr val="2E9E4F"/>
                </a:solidFill>
                <a:latin typeface="Arial"/>
              </a:rPr>
              <a:t>→ 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0100" y="2990850"/>
            <a:ext cx="2971800" cy="161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TPR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= real accepted / all real (target ≥ 0.75)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C0392B"/>
                </a:solidFill>
                <a:latin typeface="Arial"/>
              </a:rPr>
              <a:t>FPR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= decoys accepted / all decoys (target ≤ 0.15)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5350" y="2990850"/>
            <a:ext cx="2971800" cy="1619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detector conf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≥ 0.10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real if box height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≥ 0.56 m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AND background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≥ 19 %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further than object</a:t>
            </a:r>
          </a:p>
          <a:p>
            <a:pPr algn="l">
              <a:spcAft>
                <a:spcPts val="800"/>
              </a:spcAft>
            </a:pPr>
            <a:r>
              <a:rPr sz="975" b="0" i="0">
                <a:solidFill>
                  <a:srgbClr val="5B6475"/>
                </a:solidFill>
                <a:latin typeface="Arial"/>
              </a:rPr>
              <a:t>fitted on eval (3 time blocks, cross-validated)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3400" y="5048250"/>
            <a:ext cx="7091934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400" y="5048250"/>
            <a:ext cx="7091934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Reference labels: YOLO proposals reviewed frame by frame (</a:t>
            </a:r>
            <a:r>
              <a:rPr sz="1200" b="1" i="0">
                <a:solidFill>
                  <a:srgbClr val="1F6FB4"/>
                </a:solidFill>
                <a:latin typeface="Arial"/>
              </a:rPr>
              <a:t>AI-assisted</a:t>
            </a:r>
            <a:r>
              <a:rPr sz="1200" b="0" i="0">
                <a:solidFill>
                  <a:srgbClr val="1D2433"/>
                </a:solidFill>
                <a:latin typeface="Arial"/>
              </a:rPr>
              <a:t>) + team spot-check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3400" y="5448300"/>
            <a:ext cx="3986022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3400" y="5448300"/>
            <a:ext cx="3986022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Same data and same rules for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baseline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and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final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EVALUATION ·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Baseline vs final (test, same data)</a:t>
            </a:r>
          </a:p>
        </p:txBody>
      </p:sp>
      <p:pic>
        <p:nvPicPr>
          <p:cNvPr id="4" name="Picture 3" descr="fig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365250"/>
            <a:ext cx="5715000" cy="355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4150" y="1257300"/>
            <a:ext cx="18478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0" y="1257300"/>
            <a:ext cx="8382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1257300"/>
            <a:ext cx="8763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0" y="1257300"/>
            <a:ext cx="8953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+ tracking*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38900" y="1600200"/>
            <a:ext cx="52197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534150" y="1600200"/>
            <a:ext cx="18478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Real: accepted / missed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0" y="1600200"/>
            <a:ext cx="8382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45 /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600200"/>
            <a:ext cx="8763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43 /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0" y="1600200"/>
            <a:ext cx="8953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F6FB4"/>
                </a:solidFill>
                <a:latin typeface="Arial"/>
              </a:rPr>
              <a:t>45 /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38900" y="1943100"/>
            <a:ext cx="52197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534150" y="1943100"/>
            <a:ext cx="18478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Decoys accepted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1943100"/>
            <a:ext cx="8382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C0392B"/>
                </a:solidFill>
                <a:latin typeface="Arial"/>
              </a:rPr>
              <a:t>62 / 103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1943100"/>
            <a:ext cx="8763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0 / 103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68000" y="1943100"/>
            <a:ext cx="8953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F6FB4"/>
                </a:solidFill>
                <a:latin typeface="Arial"/>
              </a:rPr>
              <a:t>0 / 103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38900" y="2286000"/>
            <a:ext cx="52197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34150" y="2286000"/>
            <a:ext cx="18478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TPR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0" y="2286000"/>
            <a:ext cx="8382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1.00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286000"/>
            <a:ext cx="8763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0.96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2286000"/>
            <a:ext cx="8953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F6FB4"/>
                </a:solidFill>
                <a:latin typeface="Arial"/>
              </a:rPr>
              <a:t>1.00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38900" y="2628900"/>
            <a:ext cx="52197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6534150" y="2628900"/>
            <a:ext cx="18478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Decoy FPR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0" y="2628900"/>
            <a:ext cx="8382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C0392B"/>
                </a:solidFill>
                <a:latin typeface="Arial"/>
              </a:rPr>
              <a:t>0.60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628900"/>
            <a:ext cx="8763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8000" y="2628900"/>
            <a:ext cx="8953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F6FB4"/>
                </a:solidFill>
                <a:latin typeface="Arial"/>
              </a:rPr>
              <a:t>0.00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38900" y="2971800"/>
            <a:ext cx="52197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6534150" y="2971800"/>
            <a:ext cx="18478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Background accepted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2971800"/>
            <a:ext cx="8382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C0392B"/>
                </a:solidFill>
                <a:latin typeface="Arial"/>
              </a:rPr>
              <a:t>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2971800"/>
            <a:ext cx="8763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68000" y="2971800"/>
            <a:ext cx="8953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F6FB4"/>
                </a:solidFill>
                <a:latin typeface="Arial"/>
              </a:rPr>
              <a:t>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38900" y="3314700"/>
            <a:ext cx="52197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6534150" y="3314700"/>
            <a:ext cx="18478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Height above floor (m)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0" y="3314700"/>
            <a:ext cx="8382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C0392B"/>
                </a:solidFill>
                <a:latin typeface="Arial"/>
              </a:rPr>
              <a:t>0.26 ± 0.07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3314700"/>
            <a:ext cx="8763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0.49 ± 0.05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8000" y="3314700"/>
            <a:ext cx="8953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F6FB4"/>
                </a:solidFill>
                <a:latin typeface="Arial"/>
              </a:rPr>
              <a:t>0.48 ± 0.06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38900" y="3657600"/>
            <a:ext cx="52197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6534150" y="3657600"/>
            <a:ext cx="18478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Speed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72500" y="3657600"/>
            <a:ext cx="8382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3657600"/>
            <a:ext cx="87630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1F6FB4"/>
                </a:solidFill>
                <a:latin typeface="Arial"/>
              </a:rPr>
              <a:t>≈ 66 FPS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0" y="3657600"/>
            <a:ext cx="895350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1F6FB4"/>
                </a:solidFill>
                <a:latin typeface="Arial"/>
              </a:rPr>
              <a:t>≈ 66 FPS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38900" y="4000500"/>
            <a:ext cx="5219700" cy="0"/>
          </a:xfrm>
          <a:prstGeom prst="line">
            <a:avLst/>
          </a:prstGeom>
          <a:ln w="9525">
            <a:solidFill>
              <a:srgbClr val="E3E6EB"/>
            </a:solidFill>
          </a:ln>
        </p:spPr>
      </p:cxnSp>
      <p:sp>
        <p:nvSpPr>
          <p:cNvPr id="45" name="Rounded Rectangle 44"/>
          <p:cNvSpPr/>
          <p:nvPr/>
        </p:nvSpPr>
        <p:spPr>
          <a:xfrm>
            <a:off x="533400" y="5391150"/>
            <a:ext cx="3882390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400" y="5391150"/>
            <a:ext cx="388239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Baseline = same YOLO,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accept all</a:t>
            </a:r>
            <a:r>
              <a:rPr sz="1200" b="0" i="0">
                <a:solidFill>
                  <a:srgbClr val="1D2433"/>
                </a:solidFill>
                <a:latin typeface="Arial"/>
              </a:rPr>
              <a:t>, median depth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11040" y="5391150"/>
            <a:ext cx="2955798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1040" y="5391150"/>
            <a:ext cx="2955798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Trade-off: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−2 real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for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−62 decoys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62088" y="5391150"/>
            <a:ext cx="1504950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62088" y="5391150"/>
            <a:ext cx="150495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Both targets met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33400" y="5791200"/>
            <a:ext cx="4400550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3400" y="5791200"/>
            <a:ext cx="440055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* extension: settings chosen on eval (80 px, 2 frames)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EVALUATION ·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Visual evidence (test)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3400" y="1143000"/>
            <a:ext cx="2667000" cy="3429000"/>
          </a:xfrm>
          <a:prstGeom prst="roundRect">
            <a:avLst>
              <a:gd name="adj" fmla="val 2857"/>
            </a:avLst>
          </a:prstGeom>
          <a:solidFill>
            <a:srgbClr val="1D2433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-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32472"/>
            <a:ext cx="2590800" cy="30500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3400" y="4667250"/>
            <a:ext cx="2667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2E9E4F"/>
                </a:solidFill>
                <a:latin typeface="Arial"/>
              </a:rPr>
              <a:t>✔ Real accepted + 3D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4914900"/>
            <a:ext cx="266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with its position in metres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1850" y="1143000"/>
            <a:ext cx="2667000" cy="3429000"/>
          </a:xfrm>
          <a:prstGeom prst="roundRect">
            <a:avLst>
              <a:gd name="adj" fmla="val 2857"/>
            </a:avLst>
          </a:prstGeom>
          <a:solidFill>
            <a:srgbClr val="1D2433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v_decoys_rej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50" y="1644011"/>
            <a:ext cx="2590800" cy="24269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71850" y="4667250"/>
            <a:ext cx="2667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2E9E4F"/>
                </a:solidFill>
                <a:latin typeface="Arial"/>
              </a:rPr>
              <a:t>✔ Decoys rejected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1850" y="4914900"/>
            <a:ext cx="266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prints on blocks: no free space around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143000"/>
            <a:ext cx="2667000" cy="3429000"/>
          </a:xfrm>
          <a:prstGeom prst="roundRect">
            <a:avLst>
              <a:gd name="adj" fmla="val 2857"/>
            </a:avLst>
          </a:prstGeom>
          <a:solidFill>
            <a:srgbClr val="1D2433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10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332130"/>
            <a:ext cx="2590800" cy="30507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0300" y="4667250"/>
            <a:ext cx="2667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C0392B"/>
                </a:solidFill>
                <a:latin typeface="Arial"/>
              </a:rPr>
              <a:t>✘ Real missed by 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300" y="4914900"/>
            <a:ext cx="266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camera turning: depth 28 ms older → box sees floor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48750" y="1143000"/>
            <a:ext cx="2667000" cy="3429000"/>
          </a:xfrm>
          <a:prstGeom prst="roundRect">
            <a:avLst>
              <a:gd name="adj" fmla="val 2857"/>
            </a:avLst>
          </a:prstGeom>
          <a:solidFill>
            <a:srgbClr val="1D2433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10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6850" y="1330779"/>
            <a:ext cx="2590800" cy="305344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48750" y="4667250"/>
            <a:ext cx="2667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6FB4"/>
                </a:solidFill>
                <a:latin typeface="Arial"/>
              </a:rPr>
              <a:t>✔ Same frame + tracking*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0" y="4914900"/>
            <a:ext cx="266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5B6475"/>
                </a:solidFill>
                <a:latin typeface="Arial"/>
              </a:rPr>
              <a:t>seen as real in earlier frames → kept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5467350"/>
            <a:ext cx="3217926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400" y="5467350"/>
            <a:ext cx="3217926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Decoy accepted as real: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none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(0 / 103)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6576" y="5467350"/>
            <a:ext cx="6686550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6576" y="5467350"/>
            <a:ext cx="668655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Filter misses: 2 (same turning moment, one old depth frame) → both kept by tracking*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5867400"/>
            <a:ext cx="3580638" cy="3048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5867400"/>
            <a:ext cx="3580638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D2433"/>
                </a:solidFill>
                <a:latin typeface="Arial"/>
              </a:rPr>
              <a:t>Tracking adds </a:t>
            </a:r>
            <a:r>
              <a:rPr sz="1200" b="1" i="0">
                <a:solidFill>
                  <a:srgbClr val="1F6FB4"/>
                </a:solidFill>
                <a:latin typeface="Arial"/>
              </a:rPr>
              <a:t>no</a:t>
            </a:r>
            <a:r>
              <a:rPr sz="1200" b="0" i="0">
                <a:solidFill>
                  <a:srgbClr val="1D2433"/>
                </a:solidFill>
                <a:latin typeface="Arial"/>
              </a:rPr>
              <a:t> decoys or background boxes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81000"/>
            <a:ext cx="762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25" b="1" i="0">
                <a:solidFill>
                  <a:srgbClr val="C0392B"/>
                </a:solidFill>
                <a:latin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590550"/>
            <a:ext cx="1112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50" b="1" i="0">
                <a:solidFill>
                  <a:srgbClr val="1D2433"/>
                </a:solidFill>
                <a:latin typeface="Arial"/>
              </a:rPr>
              <a:t>Final result and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3400" y="1181100"/>
            <a:ext cx="2714625" cy="1066800"/>
          </a:xfrm>
          <a:prstGeom prst="roundRect">
            <a:avLst>
              <a:gd name="adj" fmla="val 8928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1276350"/>
            <a:ext cx="2447925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6FB4"/>
                </a:solidFill>
                <a:latin typeface="Arial"/>
              </a:rPr>
              <a:t>0.96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" y="1676400"/>
            <a:ext cx="2447925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TPR, final system (target ≥ 0.75)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2325" y="1181100"/>
            <a:ext cx="2714625" cy="1066800"/>
          </a:xfrm>
          <a:prstGeom prst="roundRect">
            <a:avLst>
              <a:gd name="adj" fmla="val 8928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95675" y="1276350"/>
            <a:ext cx="2447925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9E4F"/>
                </a:solidFill>
                <a:latin typeface="Arial"/>
              </a:rPr>
              <a:t>0.00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5675" y="1676400"/>
            <a:ext cx="2447925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decoy FPR: 0 of 103 accepted (target ≤ 0.15)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250" y="1181100"/>
            <a:ext cx="2714625" cy="1066800"/>
          </a:xfrm>
          <a:prstGeom prst="roundRect">
            <a:avLst>
              <a:gd name="adj" fmla="val 8928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4600" y="1276350"/>
            <a:ext cx="2447925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F6FB4"/>
                </a:solidFill>
                <a:latin typeface="Arial"/>
              </a:rPr>
              <a:t>1.00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600" y="1676400"/>
            <a:ext cx="2447925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TPR with the tracking extension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0175" y="1181100"/>
            <a:ext cx="2714625" cy="1066800"/>
          </a:xfrm>
          <a:prstGeom prst="roundRect">
            <a:avLst>
              <a:gd name="adj" fmla="val 8928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3525" y="1276350"/>
            <a:ext cx="2447925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D2433"/>
                </a:solidFill>
                <a:latin typeface="Arial"/>
              </a:rPr>
              <a:t>≈ 66 FPS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3525" y="1676400"/>
            <a:ext cx="2447925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B6475"/>
                </a:solidFill>
                <a:latin typeface="Arial"/>
              </a:rPr>
              <a:t>15.2 ms per frame, all stages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495550"/>
            <a:ext cx="5467350" cy="2476500"/>
          </a:xfrm>
          <a:prstGeom prst="roundRect">
            <a:avLst>
              <a:gd name="adj" fmla="val 3846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900" y="2647950"/>
            <a:ext cx="5086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E9E4F"/>
                </a:solidFill>
                <a:latin typeface="Arial"/>
              </a:rPr>
              <a:t>What worked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" y="3028950"/>
            <a:ext cx="50863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2400" indent="-152400">
              <a:spcAft>
                <a:spcPts val="1000"/>
              </a:spcAft>
              <a:buChar char="•"/>
            </a:pPr>
            <a:r>
              <a:rPr sz="1350" b="0" i="0">
                <a:solidFill>
                  <a:srgbClr val="1D2433"/>
                </a:solidFill>
                <a:latin typeface="Arial"/>
              </a:rPr>
              <a:t>Simple depth cues remove every printed decoy</a:t>
            </a:r>
          </a:p>
          <a:p>
            <a:pPr algn="l" marL="152400" indent="-152400">
              <a:spcAft>
                <a:spcPts val="1000"/>
              </a:spcAft>
              <a:buChar char="•"/>
            </a:pPr>
            <a:r>
              <a:rPr sz="1350" b="0" i="0">
                <a:solidFill>
                  <a:srgbClr val="1D2433"/>
                </a:solidFill>
                <a:latin typeface="Arial"/>
              </a:rPr>
              <a:t>3D centre from the object pixels, not the box median</a:t>
            </a:r>
          </a:p>
          <a:p>
            <a:pPr algn="l" marL="152400" indent="-152400">
              <a:spcAft>
                <a:spcPts val="1000"/>
              </a:spcAft>
              <a:buChar char="•"/>
            </a:pPr>
            <a:r>
              <a:rPr sz="1350" b="0" i="0">
                <a:solidFill>
                  <a:srgbClr val="1D2433"/>
                </a:solidFill>
                <a:latin typeface="Arial"/>
              </a:rPr>
              <a:t>Every choice made on eval; test run once at the end</a:t>
            </a:r>
          </a:p>
          <a:p>
            <a:pPr algn="l" marL="152400" indent="-152400">
              <a:spcAft>
                <a:spcPts val="1000"/>
              </a:spcAft>
              <a:buChar char="•"/>
            </a:pPr>
            <a:r>
              <a:rPr sz="1350" b="0" i="0">
                <a:solidFill>
                  <a:srgbClr val="1D2433"/>
                </a:solidFill>
                <a:latin typeface="Arial"/>
              </a:rPr>
              <a:t>Tracking recovers the 2 misses without adding decoys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1250" y="2495550"/>
            <a:ext cx="5467350" cy="2476500"/>
          </a:xfrm>
          <a:prstGeom prst="roundRect">
            <a:avLst>
              <a:gd name="adj" fmla="val 3846"/>
            </a:avLst>
          </a:prstGeom>
          <a:solidFill>
            <a:srgbClr val="F5F7FA"/>
          </a:solidFill>
          <a:ln w="9525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2647950"/>
            <a:ext cx="508635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Limitations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3028950"/>
            <a:ext cx="508635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2400" indent="-152400">
              <a:spcAft>
                <a:spcPts val="1000"/>
              </a:spcAft>
              <a:buChar char="•"/>
            </a:pPr>
            <a:r>
              <a:rPr sz="1350" b="0" i="0">
                <a:solidFill>
                  <a:srgbClr val="1D2433"/>
                </a:solidFill>
                <a:latin typeface="Arial"/>
              </a:rPr>
              <a:t>Small test set: 67 frames, one real extinguisher</a:t>
            </a:r>
          </a:p>
          <a:p>
            <a:pPr algn="l" marL="152400" indent="-152400">
              <a:spcAft>
                <a:spcPts val="1000"/>
              </a:spcAft>
              <a:buChar char="•"/>
            </a:pPr>
            <a:r>
              <a:rPr sz="1350" b="0" i="0">
                <a:solidFill>
                  <a:srgbClr val="1D2433"/>
                </a:solidFill>
                <a:latin typeface="Arial"/>
              </a:rPr>
              <a:t>Fast camera turns: colour/depth time gap → 2 misses</a:t>
            </a:r>
          </a:p>
          <a:p>
            <a:pPr algn="l" marL="152400" indent="-152400">
              <a:spcAft>
                <a:spcPts val="1000"/>
              </a:spcAft>
              <a:buChar char="•"/>
            </a:pPr>
            <a:r>
              <a:rPr sz="1350" b="0" i="0">
                <a:solidFill>
                  <a:srgbClr val="1D2433"/>
                </a:solidFill>
                <a:latin typeface="Arial"/>
              </a:rPr>
              <a:t>No 3D ground truth: checked by stable height only</a:t>
            </a:r>
          </a:p>
          <a:p>
            <a:pPr algn="l" marL="152400" indent="-152400">
              <a:spcAft>
                <a:spcPts val="1000"/>
              </a:spcAft>
              <a:buChar char="•"/>
            </a:pPr>
            <a:r>
              <a:rPr sz="1350" b="0" i="0">
                <a:solidFill>
                  <a:srgbClr val="1D2433"/>
                </a:solidFill>
                <a:latin typeface="Arial"/>
              </a:rPr>
              <a:t>Thresholds fitted in one room; new scenes may need a refit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5429250"/>
            <a:ext cx="111252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1D2433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